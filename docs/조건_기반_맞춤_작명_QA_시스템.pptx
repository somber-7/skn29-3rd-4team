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</p:sldIdLst>
  <p:sldSz cx="18288000" cy="10287000"/>
  <p:notesSz cx="6858000" cy="9144000"/>
  <p:embeddedFontLst>
    <p:embeddedFont>
      <p:font typeface="Pretendard" panose="02000503000000020004" pitchFamily="2" charset="-127"/>
      <p:regular r:id="rId23"/>
      <p:bold r:id="rId24"/>
    </p:embeddedFont>
    <p:embeddedFont>
      <p:font typeface="Pretendard Black" panose="02000A03000000020004" pitchFamily="2" charset="-127"/>
      <p:bold r:id="rId25"/>
    </p:embeddedFont>
    <p:embeddedFont>
      <p:font typeface="Pretendard Bold" panose="02000803000000020004" pitchFamily="2" charset="-127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FD339-10BE-031A-E1BD-261026BB3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42F08F-69FC-6C6B-158B-0CD58ABCC9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28CAB9-4CC6-2BDA-52F1-7EBCAEFCBBA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19652F3-71EE-208B-EF82-08653CAF2B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1FFF3CC-C2DC-AC4B-9113-AE8401278F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A3461-A209-CE76-B165-767CCC6FF5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917A4-D560-62EA-4425-872BA4E915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43929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12.jpeg"/><Relationship Id="rId5" Type="http://schemas.openxmlformats.org/officeDocument/2006/relationships/image" Target="../media/image6.png"/><Relationship Id="rId10" Type="http://schemas.openxmlformats.org/officeDocument/2006/relationships/image" Target="../media/image44.png"/><Relationship Id="rId4" Type="http://schemas.openxmlformats.org/officeDocument/2006/relationships/image" Target="../media/image41.pn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4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11" Type="http://schemas.openxmlformats.org/officeDocument/2006/relationships/image" Target="../media/image61.png"/><Relationship Id="rId5" Type="http://schemas.openxmlformats.org/officeDocument/2006/relationships/image" Target="../media/image56.png"/><Relationship Id="rId10" Type="http://schemas.openxmlformats.org/officeDocument/2006/relationships/image" Target="../media/image60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0287000" y="6671367"/>
            <a:ext cx="7143750" cy="1865862"/>
            <a:chOff x="0" y="0"/>
            <a:chExt cx="9525000" cy="2487816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9525000" cy="2487803"/>
            </a:xfrm>
            <a:custGeom>
              <a:avLst/>
              <a:gdLst/>
              <a:ahLst/>
              <a:cxnLst/>
              <a:rect l="l" t="t" r="r" b="b"/>
              <a:pathLst>
                <a:path w="9525000" h="2487803">
                  <a:moveTo>
                    <a:pt x="0" y="0"/>
                  </a:moveTo>
                  <a:lnTo>
                    <a:pt x="9525000" y="0"/>
                  </a:lnTo>
                  <a:lnTo>
                    <a:pt x="9525000" y="2487803"/>
                  </a:lnTo>
                  <a:lnTo>
                    <a:pt x="0" y="2487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95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026386" y="2344865"/>
            <a:ext cx="7404364" cy="255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366"/>
              </a:lnSpc>
            </a:pPr>
            <a:r>
              <a:rPr lang="en-US" sz="7200" dirty="0" err="1">
                <a:solidFill>
                  <a:srgbClr val="0F172A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  <a:sym typeface="Pretendard"/>
              </a:rPr>
              <a:t>조건</a:t>
            </a:r>
            <a:r>
              <a:rPr lang="en-US" sz="7200" dirty="0">
                <a:solidFill>
                  <a:srgbClr val="0F172A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  <a:sym typeface="Pretendard"/>
              </a:rPr>
              <a:t> </a:t>
            </a:r>
            <a:r>
              <a:rPr lang="en-US" sz="7200" dirty="0" err="1">
                <a:solidFill>
                  <a:srgbClr val="0F172A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  <a:sym typeface="Pretendard"/>
              </a:rPr>
              <a:t>기반</a:t>
            </a:r>
            <a:r>
              <a:rPr lang="en-US" sz="7200" dirty="0">
                <a:solidFill>
                  <a:srgbClr val="0F172A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  <a:sym typeface="Pretendard"/>
              </a:rPr>
              <a:t> </a:t>
            </a:r>
            <a:r>
              <a:rPr lang="en-US" sz="7200" dirty="0" err="1">
                <a:solidFill>
                  <a:srgbClr val="0F172A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  <a:sym typeface="Pretendard"/>
              </a:rPr>
              <a:t>맞춤</a:t>
            </a:r>
            <a:endParaRPr lang="en-US" sz="7200" dirty="0">
              <a:solidFill>
                <a:srgbClr val="0F172A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  <a:sym typeface="Pretendard"/>
            </a:endParaRPr>
          </a:p>
          <a:p>
            <a:pPr algn="r">
              <a:lnSpc>
                <a:spcPts val="10366"/>
              </a:lnSpc>
            </a:pPr>
            <a:r>
              <a:rPr lang="en-US" sz="7200" dirty="0">
                <a:solidFill>
                  <a:srgbClr val="0F172A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  <a:sym typeface="Pretendard"/>
              </a:rPr>
              <a:t> </a:t>
            </a:r>
            <a:r>
              <a:rPr lang="en-US" sz="7200" dirty="0" err="1">
                <a:solidFill>
                  <a:srgbClr val="0F172A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  <a:sym typeface="Pretendard"/>
              </a:rPr>
              <a:t>작명</a:t>
            </a:r>
            <a:r>
              <a:rPr lang="en-US" sz="7200" dirty="0">
                <a:solidFill>
                  <a:srgbClr val="0F172A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  <a:sym typeface="Pretendard"/>
              </a:rPr>
              <a:t> QA </a:t>
            </a:r>
            <a:r>
              <a:rPr lang="en-US" sz="7200" dirty="0" err="1">
                <a:solidFill>
                  <a:srgbClr val="0F172A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  <a:sym typeface="Pretendard"/>
              </a:rPr>
              <a:t>시스템</a:t>
            </a:r>
            <a:endParaRPr lang="en-US" sz="7200" dirty="0">
              <a:solidFill>
                <a:srgbClr val="0F172A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  <a:sym typeface="Pretendar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0378973" y="2622423"/>
            <a:ext cx="1000125" cy="1000125"/>
            <a:chOff x="0" y="0"/>
            <a:chExt cx="1333500" cy="1333500"/>
          </a:xfrm>
        </p:grpSpPr>
        <p:sp>
          <p:nvSpPr>
            <p:cNvPr id="8" name="Freeform 8" descr="image.png"/>
            <p:cNvSpPr/>
            <p:nvPr/>
          </p:nvSpPr>
          <p:spPr>
            <a:xfrm>
              <a:off x="0" y="0"/>
              <a:ext cx="1333500" cy="1333500"/>
            </a:xfrm>
            <a:custGeom>
              <a:avLst/>
              <a:gdLst/>
              <a:ahLst/>
              <a:cxnLst/>
              <a:rect l="l" t="t" r="r" b="b"/>
              <a:pathLst>
                <a:path w="1333500" h="1333500">
                  <a:moveTo>
                    <a:pt x="0" y="0"/>
                  </a:moveTo>
                  <a:lnTo>
                    <a:pt x="1333500" y="0"/>
                  </a:lnTo>
                  <a:lnTo>
                    <a:pt x="1333500" y="1333500"/>
                  </a:lnTo>
                  <a:lnTo>
                    <a:pt x="0" y="133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42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-556056"/>
            <a:ext cx="8944284" cy="11144017"/>
          </a:xfrm>
          <a:custGeom>
            <a:avLst/>
            <a:gdLst/>
            <a:ahLst/>
            <a:cxnLst/>
            <a:rect l="l" t="t" r="r" b="b"/>
            <a:pathLst>
              <a:path w="8944284" h="11144017">
                <a:moveTo>
                  <a:pt x="0" y="0"/>
                </a:moveTo>
                <a:lnTo>
                  <a:pt x="8944284" y="0"/>
                </a:lnTo>
                <a:lnTo>
                  <a:pt x="8944284" y="11144016"/>
                </a:lnTo>
                <a:lnTo>
                  <a:pt x="0" y="111440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686" b="-36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4844396" y="1720977"/>
            <a:ext cx="2586354" cy="371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 b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SKN29 3rd project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72400" y="4876952"/>
            <a:ext cx="9658350" cy="1342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16"/>
              </a:lnSpc>
            </a:pPr>
            <a:r>
              <a:rPr lang="en-US" sz="2925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한자 · 수리 · 법령 · 학술논문을 통합한</a:t>
            </a:r>
          </a:p>
          <a:p>
            <a:pPr algn="r">
              <a:lnSpc>
                <a:spcPts val="5616"/>
              </a:lnSpc>
            </a:pPr>
            <a:r>
              <a:rPr lang="en-US" sz="2925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AI 작명 검증 플랫폼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0" y="7252392"/>
            <a:ext cx="1817563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64748B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PROJECT TEAM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729174" y="7252392"/>
            <a:ext cx="110000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64748B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DATE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0" y="7883519"/>
            <a:ext cx="4986452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E293B"/>
                </a:solidFill>
                <a:latin typeface="Pretendard"/>
                <a:ea typeface="Pretendard"/>
                <a:cs typeface="Pretendard"/>
                <a:sym typeface="Pretendard"/>
              </a:rPr>
              <a:t>4Team</a:t>
            </a:r>
          </a:p>
          <a:p>
            <a:pPr algn="l">
              <a:lnSpc>
                <a:spcPts val="2430"/>
              </a:lnSpc>
            </a:pPr>
            <a:endParaRPr lang="en-US" sz="2025">
              <a:solidFill>
                <a:srgbClr val="1E293B"/>
              </a:solidFill>
              <a:latin typeface="Pretendard"/>
              <a:ea typeface="Pretendard"/>
              <a:cs typeface="Pretendard"/>
              <a:sym typeface="Pretendard"/>
            </a:endParaRPr>
          </a:p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임준 · 윤대성 · 이지현 · 최지용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729174" y="7790555"/>
            <a:ext cx="3448345" cy="321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E293B"/>
                </a:solidFill>
                <a:latin typeface="Pretendard"/>
                <a:ea typeface="Pretendard"/>
                <a:cs typeface="Pretendard"/>
                <a:sym typeface="Pretendard"/>
              </a:rPr>
              <a:t>2026. 06.  17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2191569" y="1755351"/>
            <a:ext cx="1143000" cy="1143000"/>
            <a:chOff x="0" y="0"/>
            <a:chExt cx="1524000" cy="15240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855613"/>
            <a:ext cx="3811857" cy="3798674"/>
            <a:chOff x="0" y="0"/>
            <a:chExt cx="5082476" cy="50648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82540" cy="5064899"/>
            </a:xfrm>
            <a:custGeom>
              <a:avLst/>
              <a:gdLst/>
              <a:ahLst/>
              <a:cxnLst/>
              <a:rect l="l" t="t" r="r" b="b"/>
              <a:pathLst>
                <a:path w="5082540" h="5064899">
                  <a:moveTo>
                    <a:pt x="0" y="0"/>
                  </a:moveTo>
                  <a:lnTo>
                    <a:pt x="5082540" y="0"/>
                  </a:lnTo>
                  <a:lnTo>
                    <a:pt x="5082540" y="5064899"/>
                  </a:lnTo>
                  <a:lnTo>
                    <a:pt x="0" y="50648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7122" b="-1712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45444" y="1755351"/>
            <a:ext cx="1143000" cy="1143000"/>
            <a:chOff x="0" y="0"/>
            <a:chExt cx="1524000" cy="15240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61111" y="3855613"/>
            <a:ext cx="3811857" cy="3798674"/>
            <a:chOff x="0" y="0"/>
            <a:chExt cx="5082476" cy="506489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82540" cy="5064899"/>
            </a:xfrm>
            <a:custGeom>
              <a:avLst/>
              <a:gdLst/>
              <a:ahLst/>
              <a:cxnLst/>
              <a:rect l="l" t="t" r="r" b="b"/>
              <a:pathLst>
                <a:path w="5082540" h="5064899">
                  <a:moveTo>
                    <a:pt x="0" y="0"/>
                  </a:moveTo>
                  <a:lnTo>
                    <a:pt x="5082540" y="0"/>
                  </a:lnTo>
                  <a:lnTo>
                    <a:pt x="5082540" y="5064899"/>
                  </a:lnTo>
                  <a:lnTo>
                    <a:pt x="0" y="50648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7122" b="-1712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699328" y="1755351"/>
            <a:ext cx="1143000" cy="1143000"/>
            <a:chOff x="0" y="0"/>
            <a:chExt cx="1524000" cy="15240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65009" y="3855613"/>
            <a:ext cx="3811857" cy="3798674"/>
            <a:chOff x="0" y="0"/>
            <a:chExt cx="5082476" cy="506489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082540" cy="5064899"/>
            </a:xfrm>
            <a:custGeom>
              <a:avLst/>
              <a:gdLst/>
              <a:ahLst/>
              <a:cxnLst/>
              <a:rect l="l" t="t" r="r" b="b"/>
              <a:pathLst>
                <a:path w="5082540" h="5064899">
                  <a:moveTo>
                    <a:pt x="0" y="0"/>
                  </a:moveTo>
                  <a:lnTo>
                    <a:pt x="5082540" y="0"/>
                  </a:lnTo>
                  <a:lnTo>
                    <a:pt x="5082540" y="5064899"/>
                  </a:lnTo>
                  <a:lnTo>
                    <a:pt x="0" y="50648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6729" b="-2751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953212" y="1755351"/>
            <a:ext cx="1143000" cy="1143000"/>
            <a:chOff x="0" y="0"/>
            <a:chExt cx="1524000" cy="15240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618893" y="3855613"/>
            <a:ext cx="3811857" cy="3798674"/>
            <a:chOff x="0" y="0"/>
            <a:chExt cx="5082476" cy="506489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082540" cy="5064899"/>
            </a:xfrm>
            <a:custGeom>
              <a:avLst/>
              <a:gdLst/>
              <a:ahLst/>
              <a:cxnLst/>
              <a:rect l="l" t="t" r="r" b="b"/>
              <a:pathLst>
                <a:path w="5082540" h="5064899">
                  <a:moveTo>
                    <a:pt x="0" y="0"/>
                  </a:moveTo>
                  <a:lnTo>
                    <a:pt x="5082540" y="0"/>
                  </a:lnTo>
                  <a:lnTo>
                    <a:pt x="5082540" y="5064899"/>
                  </a:lnTo>
                  <a:lnTo>
                    <a:pt x="0" y="50648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15967" b="-1827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28700" y="606533"/>
            <a:ext cx="2095500" cy="710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팀원</a:t>
            </a:r>
            <a:r>
              <a:rPr 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소개</a:t>
            </a:r>
            <a:endParaRPr lang="en-US" sz="3825" b="1" dirty="0">
              <a:solidFill>
                <a:srgbClr val="0F172A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008956" y="3009900"/>
            <a:ext cx="1508227" cy="37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38BDF8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임준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62840" y="3009900"/>
            <a:ext cx="1508227" cy="37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 err="1">
                <a:solidFill>
                  <a:srgbClr val="38BDF8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최지용</a:t>
            </a:r>
            <a:endParaRPr lang="en-US" sz="2499" b="1" dirty="0">
              <a:solidFill>
                <a:srgbClr val="38BDF8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659589" y="3009900"/>
            <a:ext cx="1222477" cy="37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 err="1">
                <a:solidFill>
                  <a:srgbClr val="38BDF8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윤대성</a:t>
            </a:r>
            <a:endParaRPr lang="en-US" sz="2499" b="1" dirty="0">
              <a:solidFill>
                <a:srgbClr val="38BDF8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4587985" y="3009900"/>
            <a:ext cx="1873444" cy="37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38BDF8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이지현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7202" y="7994254"/>
            <a:ext cx="3811953" cy="1740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PM</a:t>
            </a:r>
          </a:p>
          <a:p>
            <a:pPr algn="ctr">
              <a:lnSpc>
                <a:spcPts val="3456"/>
              </a:lnSpc>
            </a:pP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LangGraph</a:t>
            </a: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/RAG </a:t>
            </a: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파이프라인</a:t>
            </a:r>
            <a:endParaRPr lang="en-US" sz="1800" b="1" dirty="0">
              <a:solidFill>
                <a:srgbClr val="475569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  <a:p>
            <a:pPr algn="ctr">
              <a:lnSpc>
                <a:spcPts val="3456"/>
              </a:lnSpc>
            </a:pP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통합과</a:t>
            </a: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평가</a:t>
            </a: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개선</a:t>
            </a:r>
            <a:endParaRPr lang="en-US" sz="1800" b="1" dirty="0">
              <a:solidFill>
                <a:srgbClr val="475569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  <a:p>
            <a:pPr algn="ctr">
              <a:lnSpc>
                <a:spcPts val="3456"/>
              </a:lnSpc>
            </a:pP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순우리말</a:t>
            </a: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크롤링</a:t>
            </a: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및 </a:t>
            </a: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파싱</a:t>
            </a:r>
            <a:endParaRPr lang="en-US" sz="1800" b="1" dirty="0">
              <a:solidFill>
                <a:srgbClr val="475569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961111" y="7994254"/>
            <a:ext cx="3811856" cy="1742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한자</a:t>
            </a: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ChromaDB·Neo4j </a:t>
            </a: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검증</a:t>
            </a:r>
            <a:endParaRPr lang="en-US" sz="1800" b="1" dirty="0">
              <a:solidFill>
                <a:srgbClr val="475569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  <a:p>
            <a:pPr algn="ctr">
              <a:lnSpc>
                <a:spcPts val="3456"/>
              </a:lnSpc>
            </a:pP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한자</a:t>
            </a: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데이터</a:t>
            </a: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정제</a:t>
            </a:r>
            <a:endParaRPr lang="en-US" sz="1800" b="1" dirty="0">
              <a:solidFill>
                <a:srgbClr val="475569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  <a:p>
            <a:pPr algn="ctr">
              <a:lnSpc>
                <a:spcPts val="3456"/>
              </a:lnSpc>
            </a:pP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확장</a:t>
            </a: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후보군</a:t>
            </a: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JSON 및 </a:t>
            </a: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통합</a:t>
            </a: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문서</a:t>
            </a: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정리</a:t>
            </a:r>
            <a:endParaRPr lang="en-US" sz="1800" b="1" dirty="0">
              <a:solidFill>
                <a:srgbClr val="475569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  <a:p>
            <a:pPr algn="ctr">
              <a:lnSpc>
                <a:spcPts val="3456"/>
              </a:lnSpc>
            </a:pPr>
            <a:endParaRPr lang="en-US" sz="1800" b="1" dirty="0">
              <a:solidFill>
                <a:srgbClr val="475569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224265" y="7994254"/>
            <a:ext cx="4103865" cy="12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수리·오행</a:t>
            </a: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데이터</a:t>
            </a: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전처리</a:t>
            </a:r>
            <a:endParaRPr lang="en-US" sz="1800" b="1" dirty="0">
              <a:solidFill>
                <a:srgbClr val="475569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  <a:p>
            <a:pPr algn="ctr">
              <a:lnSpc>
                <a:spcPts val="3456"/>
              </a:lnSpc>
            </a:pP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DB </a:t>
            </a: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계산</a:t>
            </a: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도구</a:t>
            </a: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구현</a:t>
            </a:r>
            <a:endParaRPr lang="en-US" sz="1800" b="1" dirty="0">
              <a:solidFill>
                <a:srgbClr val="475569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  <a:p>
            <a:pPr algn="ctr">
              <a:lnSpc>
                <a:spcPts val="3456"/>
              </a:lnSpc>
            </a:pP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논문</a:t>
            </a: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전처리</a:t>
            </a: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및 Qwen3.5 </a:t>
            </a: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파인튜닝</a:t>
            </a: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실험</a:t>
            </a:r>
            <a:endParaRPr lang="en-US" sz="1800" b="1" dirty="0">
              <a:solidFill>
                <a:srgbClr val="475569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3575982" y="7994254"/>
            <a:ext cx="3854816" cy="1292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PT/PPT</a:t>
            </a:r>
          </a:p>
          <a:p>
            <a:pPr algn="ctr">
              <a:lnSpc>
                <a:spcPts val="3456"/>
              </a:lnSpc>
            </a:pP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OCR/RAG </a:t>
            </a: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스크립트</a:t>
            </a: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작업</a:t>
            </a:r>
            <a:endParaRPr lang="en-US" sz="1800" b="1" dirty="0">
              <a:solidFill>
                <a:srgbClr val="475569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  <a:p>
            <a:pPr algn="ctr">
              <a:lnSpc>
                <a:spcPts val="3456"/>
              </a:lnSpc>
            </a:pPr>
            <a:r>
              <a:rPr lang="en-US" sz="1800" b="1" dirty="0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README </a:t>
            </a:r>
            <a:r>
              <a:rPr lang="en-US" sz="1800" b="1" dirty="0" err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정리</a:t>
            </a:r>
            <a:endParaRPr lang="en-US" sz="1800" b="1" dirty="0">
              <a:solidFill>
                <a:srgbClr val="475569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57250" y="714375"/>
            <a:ext cx="16573500" cy="631327"/>
            <a:chOff x="0" y="0"/>
            <a:chExt cx="22098000" cy="8417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098000" cy="841770"/>
            </a:xfrm>
            <a:custGeom>
              <a:avLst/>
              <a:gdLst/>
              <a:ahLst/>
              <a:cxnLst/>
              <a:rect l="l" t="t" r="r" b="b"/>
              <a:pathLst>
                <a:path w="22098000" h="841770">
                  <a:moveTo>
                    <a:pt x="0" y="0"/>
                  </a:moveTo>
                  <a:lnTo>
                    <a:pt x="22098000" y="0"/>
                  </a:lnTo>
                  <a:lnTo>
                    <a:pt x="22098000" y="841770"/>
                  </a:lnTo>
                  <a:lnTo>
                    <a:pt x="0" y="8417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1517" b="-46151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22098000" cy="832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D4ED8"/>
                  </a:solidFill>
                  <a:latin typeface="Pretendard"/>
                  <a:ea typeface="Pretendard"/>
                  <a:cs typeface="Pretendard"/>
                  <a:sym typeface="Pretendard"/>
                </a:rPr>
                <a:t>[PROBLEM]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819324" y="581025"/>
            <a:ext cx="3051486" cy="710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다변수</a:t>
            </a:r>
            <a:r>
              <a:rPr 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최적화</a:t>
            </a:r>
            <a:endParaRPr lang="en-US" sz="3825" b="1" dirty="0">
              <a:solidFill>
                <a:srgbClr val="0F172A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857479" y="3371615"/>
            <a:ext cx="5238598" cy="1874339"/>
            <a:chOff x="0" y="0"/>
            <a:chExt cx="6984797" cy="2499119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6984746" cy="2499106"/>
            </a:xfrm>
            <a:custGeom>
              <a:avLst/>
              <a:gdLst/>
              <a:ahLst/>
              <a:cxnLst/>
              <a:rect l="l" t="t" r="r" b="b"/>
              <a:pathLst>
                <a:path w="6984746" h="2499106">
                  <a:moveTo>
                    <a:pt x="0" y="0"/>
                  </a:moveTo>
                  <a:lnTo>
                    <a:pt x="6984746" y="0"/>
                  </a:lnTo>
                  <a:lnTo>
                    <a:pt x="6984746" y="2499106"/>
                  </a:lnTo>
                  <a:lnTo>
                    <a:pt x="0" y="2499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52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524701" y="3371615"/>
            <a:ext cx="5238826" cy="1874339"/>
            <a:chOff x="0" y="0"/>
            <a:chExt cx="6985102" cy="2499119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6985127" cy="2499106"/>
            </a:xfrm>
            <a:custGeom>
              <a:avLst/>
              <a:gdLst/>
              <a:ahLst/>
              <a:cxnLst/>
              <a:rect l="l" t="t" r="r" b="b"/>
              <a:pathLst>
                <a:path w="6985127" h="2499106">
                  <a:moveTo>
                    <a:pt x="0" y="0"/>
                  </a:moveTo>
                  <a:lnTo>
                    <a:pt x="6985127" y="0"/>
                  </a:lnTo>
                  <a:lnTo>
                    <a:pt x="6985127" y="2499106"/>
                  </a:lnTo>
                  <a:lnTo>
                    <a:pt x="0" y="2499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25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192152" y="3371615"/>
            <a:ext cx="5238598" cy="1874339"/>
            <a:chOff x="0" y="0"/>
            <a:chExt cx="6984797" cy="2499119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6984746" cy="2499106"/>
            </a:xfrm>
            <a:custGeom>
              <a:avLst/>
              <a:gdLst/>
              <a:ahLst/>
              <a:cxnLst/>
              <a:rect l="l" t="t" r="r" b="b"/>
              <a:pathLst>
                <a:path w="6984746" h="2499106">
                  <a:moveTo>
                    <a:pt x="0" y="0"/>
                  </a:moveTo>
                  <a:lnTo>
                    <a:pt x="6984746" y="0"/>
                  </a:lnTo>
                  <a:lnTo>
                    <a:pt x="6984746" y="2499106"/>
                  </a:lnTo>
                  <a:lnTo>
                    <a:pt x="0" y="2499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52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57479" y="5674579"/>
            <a:ext cx="5238598" cy="1874339"/>
            <a:chOff x="0" y="0"/>
            <a:chExt cx="6984797" cy="2499119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6984746" cy="2499106"/>
            </a:xfrm>
            <a:custGeom>
              <a:avLst/>
              <a:gdLst/>
              <a:ahLst/>
              <a:cxnLst/>
              <a:rect l="l" t="t" r="r" b="b"/>
              <a:pathLst>
                <a:path w="6984746" h="2499106">
                  <a:moveTo>
                    <a:pt x="0" y="0"/>
                  </a:moveTo>
                  <a:lnTo>
                    <a:pt x="6984746" y="0"/>
                  </a:lnTo>
                  <a:lnTo>
                    <a:pt x="6984746" y="2499106"/>
                  </a:lnTo>
                  <a:lnTo>
                    <a:pt x="0" y="2499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128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524701" y="5674579"/>
            <a:ext cx="5238826" cy="1874339"/>
            <a:chOff x="0" y="0"/>
            <a:chExt cx="6985102" cy="2499119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6985127" cy="2499106"/>
            </a:xfrm>
            <a:custGeom>
              <a:avLst/>
              <a:gdLst/>
              <a:ahLst/>
              <a:cxnLst/>
              <a:rect l="l" t="t" r="r" b="b"/>
              <a:pathLst>
                <a:path w="6985127" h="2499106">
                  <a:moveTo>
                    <a:pt x="0" y="0"/>
                  </a:moveTo>
                  <a:lnTo>
                    <a:pt x="6985127" y="0"/>
                  </a:lnTo>
                  <a:lnTo>
                    <a:pt x="6985127" y="2499106"/>
                  </a:lnTo>
                  <a:lnTo>
                    <a:pt x="0" y="2499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101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192152" y="5674579"/>
            <a:ext cx="5238598" cy="1874339"/>
            <a:chOff x="0" y="0"/>
            <a:chExt cx="6984797" cy="2499119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6984746" cy="2499106"/>
            </a:xfrm>
            <a:custGeom>
              <a:avLst/>
              <a:gdLst/>
              <a:ahLst/>
              <a:cxnLst/>
              <a:rect l="l" t="t" r="r" b="b"/>
              <a:pathLst>
                <a:path w="6984746" h="2499106">
                  <a:moveTo>
                    <a:pt x="0" y="0"/>
                  </a:moveTo>
                  <a:lnTo>
                    <a:pt x="6984746" y="0"/>
                  </a:lnTo>
                  <a:lnTo>
                    <a:pt x="6984746" y="2499106"/>
                  </a:lnTo>
                  <a:lnTo>
                    <a:pt x="0" y="2499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128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300391" y="3728803"/>
            <a:ext cx="4570419" cy="494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475" b="1" dirty="0" err="1">
                <a:solidFill>
                  <a:srgbClr val="2563EB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오행</a:t>
            </a:r>
            <a:endParaRPr lang="en-US" sz="2475" b="1" dirty="0">
              <a:solidFill>
                <a:srgbClr val="2563EB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00391" y="4323077"/>
            <a:ext cx="4352773" cy="387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이름 한자 조합에 따른 오행 상생/상극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67614" y="3728803"/>
            <a:ext cx="4570647" cy="45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475" b="1">
                <a:solidFill>
                  <a:srgbClr val="2563EB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획수 - 81수리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67614" y="4323077"/>
            <a:ext cx="4353001" cy="387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획수 및 수리에 따른 이름의 길흉 판단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635065" y="3728803"/>
            <a:ext cx="4570419" cy="45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475" b="1">
                <a:solidFill>
                  <a:srgbClr val="2563EB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순우리말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00391" y="6031767"/>
            <a:ext cx="4570419" cy="494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475" b="1">
                <a:solidFill>
                  <a:srgbClr val="2563EB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한자 뜻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00391" y="6626041"/>
            <a:ext cx="4352773" cy="387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이름을 구성하는 한자의 뜻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967614" y="6031767"/>
            <a:ext cx="4570647" cy="45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475" b="1">
                <a:solidFill>
                  <a:srgbClr val="2563EB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성씨 상성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67614" y="6626041"/>
            <a:ext cx="4353001" cy="387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성씨와 이름의 상성 파악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35065" y="6031767"/>
            <a:ext cx="4570419" cy="494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475" b="1">
                <a:solidFill>
                  <a:srgbClr val="2563EB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법적 허용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635065" y="6626041"/>
            <a:ext cx="4352773" cy="387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대법원 인명용 한자 등재 여부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639827" y="4369154"/>
            <a:ext cx="4352773" cy="387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이름으로 사용 가능한 순우리말 판단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57250" y="723900"/>
            <a:ext cx="16573500" cy="631327"/>
            <a:chOff x="0" y="0"/>
            <a:chExt cx="22098000" cy="8417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098000" cy="841770"/>
            </a:xfrm>
            <a:custGeom>
              <a:avLst/>
              <a:gdLst/>
              <a:ahLst/>
              <a:cxnLst/>
              <a:rect l="l" t="t" r="r" b="b"/>
              <a:pathLst>
                <a:path w="22098000" h="841770">
                  <a:moveTo>
                    <a:pt x="0" y="0"/>
                  </a:moveTo>
                  <a:lnTo>
                    <a:pt x="22098000" y="0"/>
                  </a:lnTo>
                  <a:lnTo>
                    <a:pt x="22098000" y="841770"/>
                  </a:lnTo>
                  <a:lnTo>
                    <a:pt x="0" y="8417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1517" b="-46151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22098000" cy="832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D4ED8"/>
                  </a:solidFill>
                  <a:latin typeface="Pretendard"/>
                  <a:ea typeface="Pretendard"/>
                  <a:cs typeface="Pretendard"/>
                  <a:sym typeface="Pretendard"/>
                </a:rPr>
                <a:t>[PROBLEM]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819324" y="581025"/>
            <a:ext cx="4191076" cy="699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객관적</a:t>
            </a:r>
            <a:r>
              <a:rPr 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추천</a:t>
            </a:r>
            <a:r>
              <a:rPr 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시스템</a:t>
            </a:r>
            <a:endParaRPr lang="en-US" sz="3825" b="1" dirty="0">
              <a:solidFill>
                <a:srgbClr val="0F172A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785482" y="7048500"/>
            <a:ext cx="15300193" cy="2124603"/>
            <a:chOff x="0" y="0"/>
            <a:chExt cx="20400257" cy="2832804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20400257" cy="2832767"/>
            </a:xfrm>
            <a:custGeom>
              <a:avLst/>
              <a:gdLst/>
              <a:ahLst/>
              <a:cxnLst/>
              <a:rect l="l" t="t" r="r" b="b"/>
              <a:pathLst>
                <a:path w="20400257" h="2832767">
                  <a:moveTo>
                    <a:pt x="0" y="0"/>
                  </a:moveTo>
                  <a:lnTo>
                    <a:pt x="20400257" y="0"/>
                  </a:lnTo>
                  <a:lnTo>
                    <a:pt x="20400257" y="2832767"/>
                  </a:lnTo>
                  <a:lnTo>
                    <a:pt x="0" y="2832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6097" b="-9619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003758" y="7277100"/>
            <a:ext cx="3180667" cy="438632"/>
            <a:chOff x="0" y="0"/>
            <a:chExt cx="4240890" cy="5848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240890" cy="584842"/>
            </a:xfrm>
            <a:custGeom>
              <a:avLst/>
              <a:gdLst/>
              <a:ahLst/>
              <a:cxnLst/>
              <a:rect l="l" t="t" r="r" b="b"/>
              <a:pathLst>
                <a:path w="4240890" h="584842">
                  <a:moveTo>
                    <a:pt x="0" y="0"/>
                  </a:moveTo>
                  <a:lnTo>
                    <a:pt x="4240890" y="0"/>
                  </a:lnTo>
                  <a:lnTo>
                    <a:pt x="4240890" y="584842"/>
                  </a:lnTo>
                  <a:lnTo>
                    <a:pt x="0" y="5848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3610" r="-399640" b="-6483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4240890" cy="6610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04"/>
                </a:lnSpc>
              </a:pPr>
              <a:r>
                <a:rPr lang="en-US" sz="1989" b="1" dirty="0" err="1">
                  <a:solidFill>
                    <a:srgbClr val="0F172A"/>
                  </a:solidFill>
                  <a:latin typeface="Pretendard Bold"/>
                  <a:ea typeface="Pretendard Bold"/>
                  <a:cs typeface="Pretendard Bold"/>
                  <a:sym typeface="Pretendard Bold"/>
                </a:rPr>
                <a:t>작명소QA</a:t>
              </a:r>
              <a:r>
                <a:rPr lang="en-US" sz="1989" b="1" dirty="0">
                  <a:solidFill>
                    <a:srgbClr val="0F172A"/>
                  </a:solidFill>
                  <a:latin typeface="Pretendard Bold"/>
                  <a:ea typeface="Pretendard Bold"/>
                  <a:cs typeface="Pretendard Bold"/>
                  <a:sym typeface="Pretendard Bold"/>
                </a:rPr>
                <a:t> </a:t>
              </a:r>
              <a:r>
                <a:rPr lang="en-US" sz="1989" b="1" dirty="0" err="1">
                  <a:solidFill>
                    <a:srgbClr val="0F172A"/>
                  </a:solidFill>
                  <a:latin typeface="Pretendard Bold"/>
                  <a:ea typeface="Pretendard Bold"/>
                  <a:cs typeface="Pretendard Bold"/>
                  <a:sym typeface="Pretendard Bold"/>
                </a:rPr>
                <a:t>시스템의</a:t>
              </a:r>
              <a:r>
                <a:rPr lang="en-US" sz="1989" b="1" dirty="0">
                  <a:solidFill>
                    <a:srgbClr val="0F172A"/>
                  </a:solidFill>
                  <a:latin typeface="Pretendard Bold"/>
                  <a:ea typeface="Pretendard Bold"/>
                  <a:cs typeface="Pretendard Bold"/>
                  <a:sym typeface="Pretendard Bold"/>
                </a:rPr>
                <a:t> </a:t>
              </a:r>
              <a:r>
                <a:rPr lang="en-US" sz="1989" b="1" dirty="0" err="1">
                  <a:solidFill>
                    <a:srgbClr val="0F172A"/>
                  </a:solidFill>
                  <a:latin typeface="Pretendard Bold"/>
                  <a:ea typeface="Pretendard Bold"/>
                  <a:cs typeface="Pretendard Bold"/>
                  <a:sym typeface="Pretendard Bold"/>
                </a:rPr>
                <a:t>답변</a:t>
              </a:r>
              <a:endParaRPr lang="en-US" sz="1989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003758" y="8228467"/>
            <a:ext cx="14000000" cy="400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000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"이 이름은 목오행으로 길합니다. 획수 조합이 우수하여 추천드립니다."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85482" y="2031575"/>
            <a:ext cx="15300193" cy="2124603"/>
            <a:chOff x="0" y="0"/>
            <a:chExt cx="20400257" cy="2832804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20400257" cy="2832804"/>
              <a:chOff x="0" y="0"/>
              <a:chExt cx="20400257" cy="2832804"/>
            </a:xfrm>
          </p:grpSpPr>
          <p:sp>
            <p:nvSpPr>
              <p:cNvPr id="16" name="Freeform 16" descr="image.png"/>
              <p:cNvSpPr/>
              <p:nvPr/>
            </p:nvSpPr>
            <p:spPr>
              <a:xfrm>
                <a:off x="0" y="0"/>
                <a:ext cx="20400257" cy="2832767"/>
              </a:xfrm>
              <a:custGeom>
                <a:avLst/>
                <a:gdLst/>
                <a:ahLst/>
                <a:cxnLst/>
                <a:rect l="l" t="t" r="r" b="b"/>
                <a:pathLst>
                  <a:path w="20400257" h="2832767">
                    <a:moveTo>
                      <a:pt x="0" y="0"/>
                    </a:moveTo>
                    <a:lnTo>
                      <a:pt x="20400257" y="0"/>
                    </a:lnTo>
                    <a:lnTo>
                      <a:pt x="20400257" y="2832767"/>
                    </a:lnTo>
                    <a:lnTo>
                      <a:pt x="0" y="283276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t="-96097" b="-96199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326284" y="167497"/>
              <a:ext cx="2336021" cy="475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04"/>
                </a:lnSpc>
              </a:pPr>
              <a:r>
                <a:rPr lang="en-US" sz="1989" b="1">
                  <a:solidFill>
                    <a:srgbClr val="2563EB"/>
                  </a:solidFill>
                  <a:latin typeface="Pretendard Bold"/>
                  <a:ea typeface="Pretendard Bold"/>
                  <a:cs typeface="Pretendard Bold"/>
                  <a:sym typeface="Pretendard Bold"/>
                </a:rPr>
                <a:t>객관적 지표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6340" y="1001601"/>
              <a:ext cx="5147498" cy="546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31801" lvl="1" indent="-215900" algn="l">
                <a:lnSpc>
                  <a:spcPts val="3840"/>
                </a:lnSpc>
                <a:buFont typeface="Pretendard"/>
                <a:buChar char="•"/>
              </a:pPr>
              <a:r>
                <a:rPr lang="en-US" sz="2000">
                  <a:solidFill>
                    <a:srgbClr val="1E293B"/>
                  </a:solidFill>
                  <a:latin typeface="Pretendard"/>
                  <a:ea typeface="Pretendard"/>
                  <a:cs typeface="Pretendard"/>
                  <a:sym typeface="Pretendard"/>
                </a:rPr>
                <a:t> 법적 인명 한자 DB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79330" y="1001601"/>
              <a:ext cx="3747762" cy="546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31801" lvl="1" indent="-215900" algn="l">
                <a:lnSpc>
                  <a:spcPts val="3840"/>
                </a:lnSpc>
                <a:buFont typeface="Pretendard"/>
                <a:buChar char="•"/>
              </a:pPr>
              <a:r>
                <a:rPr lang="en-US" sz="2000">
                  <a:solidFill>
                    <a:srgbClr val="1E293B"/>
                  </a:solidFill>
                  <a:latin typeface="Pretendard"/>
                  <a:ea typeface="Pretendard"/>
                  <a:cs typeface="Pretendard"/>
                  <a:sym typeface="Pretendard"/>
                </a:rPr>
                <a:t>81 수리표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803359" y="1001601"/>
              <a:ext cx="5147498" cy="546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31801" lvl="1" indent="-215900" algn="l">
                <a:lnSpc>
                  <a:spcPts val="3840"/>
                </a:lnSpc>
                <a:buFont typeface="Pretendard"/>
                <a:buChar char="•"/>
              </a:pPr>
              <a:r>
                <a:rPr lang="en-US" sz="2000">
                  <a:solidFill>
                    <a:srgbClr val="1E293B"/>
                  </a:solidFill>
                  <a:latin typeface="Pretendard"/>
                  <a:ea typeface="Pretendard"/>
                  <a:cs typeface="Pretendard"/>
                  <a:sym typeface="Pretendard"/>
                </a:rPr>
                <a:t>오행 조합표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79330" y="1838238"/>
              <a:ext cx="5147498" cy="546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31801" lvl="1" indent="-215900" algn="l">
                <a:lnSpc>
                  <a:spcPts val="3840"/>
                </a:lnSpc>
                <a:buFont typeface="Pretendard"/>
                <a:buChar char="•"/>
              </a:pPr>
              <a:r>
                <a:rPr lang="en-US" sz="2000">
                  <a:solidFill>
                    <a:srgbClr val="1E293B"/>
                  </a:solidFill>
                  <a:latin typeface="Pretendard"/>
                  <a:ea typeface="Pretendard"/>
                  <a:cs typeface="Pretendard"/>
                  <a:sym typeface="Pretendard"/>
                </a:rPr>
                <a:t>순우리말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8181" y="1838238"/>
              <a:ext cx="6403727" cy="546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31801" lvl="1" indent="-215900" algn="l">
                <a:lnSpc>
                  <a:spcPts val="3840"/>
                </a:lnSpc>
                <a:buFont typeface="Pretendard"/>
                <a:buChar char="•"/>
              </a:pPr>
              <a:r>
                <a:rPr lang="en-US" sz="2000">
                  <a:solidFill>
                    <a:srgbClr val="1E293B"/>
                  </a:solidFill>
                  <a:latin typeface="Pretendard"/>
                  <a:ea typeface="Pretendard"/>
                  <a:cs typeface="Pretendard"/>
                  <a:sym typeface="Pretendard"/>
                </a:rPr>
                <a:t>가족관계 등록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845200" y="1838238"/>
              <a:ext cx="6403727" cy="546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31801" lvl="1" indent="-215900" algn="l">
                <a:lnSpc>
                  <a:spcPts val="3840"/>
                </a:lnSpc>
                <a:buFont typeface="Pretendard"/>
                <a:buChar char="•"/>
              </a:pPr>
              <a:r>
                <a:rPr lang="en-US" sz="2000">
                  <a:solidFill>
                    <a:srgbClr val="1E293B"/>
                  </a:solidFill>
                  <a:latin typeface="Pretendard"/>
                  <a:ea typeface="Pretendard"/>
                  <a:cs typeface="Pretendard"/>
                  <a:sym typeface="Pretendard"/>
                </a:rPr>
                <a:t>국가 법령 정보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85482" y="4533900"/>
            <a:ext cx="15300193" cy="2124603"/>
            <a:chOff x="0" y="0"/>
            <a:chExt cx="20400257" cy="2832804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20400257" cy="2832804"/>
              <a:chOff x="0" y="0"/>
              <a:chExt cx="20400257" cy="2832804"/>
            </a:xfrm>
          </p:grpSpPr>
          <p:sp>
            <p:nvSpPr>
              <p:cNvPr id="27" name="Freeform 27" descr="image.png"/>
              <p:cNvSpPr/>
              <p:nvPr/>
            </p:nvSpPr>
            <p:spPr>
              <a:xfrm>
                <a:off x="0" y="0"/>
                <a:ext cx="20400257" cy="2832767"/>
              </a:xfrm>
              <a:custGeom>
                <a:avLst/>
                <a:gdLst/>
                <a:ahLst/>
                <a:cxnLst/>
                <a:rect l="l" t="t" r="r" b="b"/>
                <a:pathLst>
                  <a:path w="20400257" h="2832767">
                    <a:moveTo>
                      <a:pt x="0" y="0"/>
                    </a:moveTo>
                    <a:lnTo>
                      <a:pt x="20400257" y="0"/>
                    </a:lnTo>
                    <a:lnTo>
                      <a:pt x="20400257" y="2832767"/>
                    </a:lnTo>
                    <a:lnTo>
                      <a:pt x="0" y="283276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t="-96097" b="-96199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326284" y="241300"/>
              <a:ext cx="7887029" cy="479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02"/>
                </a:lnSpc>
              </a:pPr>
              <a:r>
                <a:rPr lang="en-US" sz="1990" b="1" dirty="0">
                  <a:solidFill>
                    <a:srgbClr val="1D4ED8"/>
                  </a:solidFill>
                  <a:latin typeface="Pretendard Bold"/>
                  <a:ea typeface="Pretendard Bold"/>
                  <a:cs typeface="Pretendard Bold"/>
                  <a:sym typeface="Pretendard Bold"/>
                </a:rPr>
                <a:t>AFTER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3163" y="1341381"/>
              <a:ext cx="7511446" cy="452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84"/>
                </a:lnSpc>
              </a:pPr>
              <a:r>
                <a:rPr lang="en-US" sz="1768" dirty="0">
                  <a:solidFill>
                    <a:srgbClr val="1E293B"/>
                  </a:solidFill>
                  <a:latin typeface="Pretendard"/>
                  <a:ea typeface="Pretendard"/>
                  <a:cs typeface="Pretendard"/>
                  <a:sym typeface="Pretendard"/>
                </a:rPr>
                <a:t>QA </a:t>
              </a:r>
              <a:r>
                <a:rPr lang="en-US" sz="1768" dirty="0" err="1">
                  <a:solidFill>
                    <a:srgbClr val="1E293B"/>
                  </a:solidFill>
                  <a:latin typeface="Pretendard"/>
                  <a:ea typeface="Pretendard"/>
                  <a:cs typeface="Pretendard"/>
                  <a:sym typeface="Pretendard"/>
                </a:rPr>
                <a:t>시스템을</a:t>
              </a:r>
              <a:r>
                <a:rPr lang="en-US" sz="1768" dirty="0">
                  <a:solidFill>
                    <a:srgbClr val="1E293B"/>
                  </a:solidFill>
                  <a:latin typeface="Pretendard"/>
                  <a:ea typeface="Pretendard"/>
                  <a:cs typeface="Pretendard"/>
                  <a:sym typeface="Pretendard"/>
                </a:rPr>
                <a:t> </a:t>
              </a:r>
              <a:r>
                <a:rPr lang="en-US" sz="1768" dirty="0" err="1">
                  <a:solidFill>
                    <a:srgbClr val="1E293B"/>
                  </a:solidFill>
                  <a:latin typeface="Pretendard"/>
                  <a:ea typeface="Pretendard"/>
                  <a:cs typeface="Pretendard"/>
                  <a:sym typeface="Pretendard"/>
                </a:rPr>
                <a:t>통해</a:t>
              </a:r>
              <a:r>
                <a:rPr lang="en-US" sz="1768" dirty="0">
                  <a:solidFill>
                    <a:srgbClr val="1E293B"/>
                  </a:solidFill>
                  <a:latin typeface="Pretendard"/>
                  <a:ea typeface="Pretendard"/>
                  <a:cs typeface="Pretendard"/>
                  <a:sym typeface="Pretendard"/>
                </a:rPr>
                <a:t> </a:t>
              </a:r>
              <a:r>
                <a:rPr lang="en-US" sz="1768" dirty="0" err="1">
                  <a:solidFill>
                    <a:srgbClr val="1E293B"/>
                  </a:solidFill>
                  <a:latin typeface="Pretendard"/>
                  <a:ea typeface="Pretendard"/>
                  <a:cs typeface="Pretendard"/>
                  <a:sym typeface="Pretendard"/>
                </a:rPr>
                <a:t>모든</a:t>
              </a:r>
              <a:r>
                <a:rPr lang="en-US" sz="1768" dirty="0">
                  <a:solidFill>
                    <a:srgbClr val="1E293B"/>
                  </a:solidFill>
                  <a:latin typeface="Pretendard"/>
                  <a:ea typeface="Pretendard"/>
                  <a:cs typeface="Pretendard"/>
                  <a:sym typeface="Pretendard"/>
                </a:rPr>
                <a:t> </a:t>
              </a:r>
              <a:r>
                <a:rPr lang="en-US" sz="1768" dirty="0" err="1">
                  <a:solidFill>
                    <a:srgbClr val="1E293B"/>
                  </a:solidFill>
                  <a:latin typeface="Pretendard"/>
                  <a:ea typeface="Pretendard"/>
                  <a:cs typeface="Pretendard"/>
                  <a:sym typeface="Pretendard"/>
                </a:rPr>
                <a:t>데이터를</a:t>
              </a:r>
              <a:r>
                <a:rPr lang="en-US" sz="1768" dirty="0">
                  <a:solidFill>
                    <a:srgbClr val="1E293B"/>
                  </a:solidFill>
                  <a:latin typeface="Pretendard"/>
                  <a:ea typeface="Pretendard"/>
                  <a:cs typeface="Pretendard"/>
                  <a:sym typeface="Pretendard"/>
                </a:rPr>
                <a:t> </a:t>
              </a:r>
              <a:r>
                <a:rPr lang="en-US" sz="1768" dirty="0" err="1">
                  <a:solidFill>
                    <a:srgbClr val="1E293B"/>
                  </a:solidFill>
                  <a:latin typeface="Pretendard"/>
                  <a:ea typeface="Pretendard"/>
                  <a:cs typeface="Pretendard"/>
                  <a:sym typeface="Pretendard"/>
                </a:rPr>
                <a:t>연결</a:t>
              </a:r>
              <a:endParaRPr lang="en-US" sz="1768" dirty="0">
                <a:solidFill>
                  <a:srgbClr val="1E293B"/>
                </a:solidFill>
                <a:latin typeface="Pretendard"/>
                <a:ea typeface="Pretendard"/>
                <a:cs typeface="Pretendard"/>
                <a:sym typeface="Pretendard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3163" y="1866486"/>
              <a:ext cx="7511446" cy="4534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62"/>
                </a:lnSpc>
              </a:pPr>
              <a:r>
                <a:rPr lang="en-US" sz="1699">
                  <a:solidFill>
                    <a:srgbClr val="475569"/>
                  </a:solidFill>
                  <a:latin typeface="Pretendard"/>
                  <a:ea typeface="Pretendard"/>
                  <a:cs typeface="Pretendard"/>
                  <a:sym typeface="Pretendard"/>
                </a:rPr>
                <a:t>(한자 DB ↔ 수리표 ↔ 법령 ↔ 논문 ↔ 오행표)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57250" y="3167586"/>
            <a:ext cx="5238598" cy="3891553"/>
            <a:chOff x="0" y="0"/>
            <a:chExt cx="6984797" cy="5188737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6984746" cy="5188712"/>
            </a:xfrm>
            <a:custGeom>
              <a:avLst/>
              <a:gdLst/>
              <a:ahLst/>
              <a:cxnLst/>
              <a:rect l="l" t="t" r="r" b="b"/>
              <a:pathLst>
                <a:path w="6984746" h="5188712">
                  <a:moveTo>
                    <a:pt x="0" y="0"/>
                  </a:moveTo>
                  <a:lnTo>
                    <a:pt x="6984746" y="0"/>
                  </a:lnTo>
                  <a:lnTo>
                    <a:pt x="6984746" y="5188712"/>
                  </a:lnTo>
                  <a:lnTo>
                    <a:pt x="0" y="5188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50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524473" y="3167586"/>
            <a:ext cx="5238826" cy="3891553"/>
            <a:chOff x="0" y="0"/>
            <a:chExt cx="6985102" cy="5188737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6985127" cy="5188712"/>
            </a:xfrm>
            <a:custGeom>
              <a:avLst/>
              <a:gdLst/>
              <a:ahLst/>
              <a:cxnLst/>
              <a:rect l="l" t="t" r="r" b="b"/>
              <a:pathLst>
                <a:path w="6985127" h="5188712">
                  <a:moveTo>
                    <a:pt x="0" y="0"/>
                  </a:moveTo>
                  <a:lnTo>
                    <a:pt x="6985127" y="0"/>
                  </a:lnTo>
                  <a:lnTo>
                    <a:pt x="6985127" y="5188712"/>
                  </a:lnTo>
                  <a:lnTo>
                    <a:pt x="0" y="5188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23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91924" y="3167586"/>
            <a:ext cx="5238598" cy="3891553"/>
            <a:chOff x="0" y="0"/>
            <a:chExt cx="6984797" cy="5188737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6984746" cy="5188712"/>
            </a:xfrm>
            <a:custGeom>
              <a:avLst/>
              <a:gdLst/>
              <a:ahLst/>
              <a:cxnLst/>
              <a:rect l="l" t="t" r="r" b="b"/>
              <a:pathLst>
                <a:path w="6984746" h="5188712">
                  <a:moveTo>
                    <a:pt x="0" y="0"/>
                  </a:moveTo>
                  <a:lnTo>
                    <a:pt x="6984746" y="0"/>
                  </a:lnTo>
                  <a:lnTo>
                    <a:pt x="6984746" y="5188712"/>
                  </a:lnTo>
                  <a:lnTo>
                    <a:pt x="0" y="5188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50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047924" y="3681936"/>
            <a:ext cx="857250" cy="857250"/>
            <a:chOff x="0" y="0"/>
            <a:chExt cx="1143000" cy="11430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15156" y="3681936"/>
            <a:ext cx="857250" cy="857250"/>
            <a:chOff x="0" y="0"/>
            <a:chExt cx="1143000" cy="11430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382598" y="3681936"/>
            <a:ext cx="857250" cy="857250"/>
            <a:chOff x="0" y="0"/>
            <a:chExt cx="1143000" cy="11430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57250" y="714375"/>
            <a:ext cx="16573500" cy="631327"/>
            <a:chOff x="0" y="0"/>
            <a:chExt cx="22098000" cy="84176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098000" cy="841770"/>
            </a:xfrm>
            <a:custGeom>
              <a:avLst/>
              <a:gdLst/>
              <a:ahLst/>
              <a:cxnLst/>
              <a:rect l="l" t="t" r="r" b="b"/>
              <a:pathLst>
                <a:path w="22098000" h="841770">
                  <a:moveTo>
                    <a:pt x="0" y="0"/>
                  </a:moveTo>
                  <a:lnTo>
                    <a:pt x="22098000" y="0"/>
                  </a:lnTo>
                  <a:lnTo>
                    <a:pt x="22098000" y="841770"/>
                  </a:lnTo>
                  <a:lnTo>
                    <a:pt x="0" y="84177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461517" b="-46151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22098000" cy="832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D4ED8"/>
                  </a:solidFill>
                  <a:latin typeface="Pretendard"/>
                  <a:ea typeface="Pretendard"/>
                  <a:cs typeface="Pretendard"/>
                  <a:sym typeface="Pretendard"/>
                </a:rPr>
                <a:t>[INSIGHT]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549423" y="581025"/>
            <a:ext cx="5132232" cy="710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시스템</a:t>
            </a:r>
            <a:r>
              <a:rPr 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설계</a:t>
            </a:r>
            <a:r>
              <a:rPr 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3가지 </a:t>
            </a: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원칙</a:t>
            </a:r>
            <a:endParaRPr lang="en-US" sz="3825" b="1" dirty="0">
              <a:solidFill>
                <a:srgbClr val="0F172A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770527" y="4739211"/>
            <a:ext cx="1412053" cy="494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1"/>
              </a:lnSpc>
            </a:pPr>
            <a:r>
              <a:rPr lang="en-US" sz="2475" b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조건 충족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75574" y="5500173"/>
            <a:ext cx="2801950" cy="646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</a:pPr>
            <a:r>
              <a:rPr lang="en-US" sz="200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오행·획수성씨 상성을</a:t>
            </a:r>
          </a:p>
          <a:p>
            <a:pPr algn="ctr">
              <a:lnSpc>
                <a:spcPts val="2559"/>
              </a:lnSpc>
            </a:pPr>
            <a:r>
              <a:rPr lang="en-US" sz="200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동시에 계산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37750" y="4739211"/>
            <a:ext cx="1412053" cy="494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1"/>
              </a:lnSpc>
            </a:pPr>
            <a:r>
              <a:rPr lang="en-US" sz="2475" b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법령 검증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681655" y="5500173"/>
            <a:ext cx="2924242" cy="646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</a:pPr>
            <a:r>
              <a:rPr lang="en-US" sz="200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국가법령정보 API 실시간 조회로 관련 답변 가능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105201" y="4739211"/>
            <a:ext cx="1412053" cy="494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1"/>
              </a:lnSpc>
            </a:pPr>
            <a:r>
              <a:rPr lang="en-US" sz="2475" b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출처 명시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86770" y="5500173"/>
            <a:ext cx="3048905" cy="980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</a:pPr>
            <a:r>
              <a:rPr lang="en-US" sz="20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답변</a:t>
            </a:r>
            <a:r>
              <a:rPr lang="en-US" sz="20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시 </a:t>
            </a:r>
            <a:r>
              <a:rPr lang="en-US" sz="20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법령</a:t>
            </a:r>
            <a:r>
              <a:rPr lang="en-US" sz="20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,</a:t>
            </a:r>
          </a:p>
          <a:p>
            <a:pPr algn="ctr">
              <a:lnSpc>
                <a:spcPts val="2559"/>
              </a:lnSpc>
            </a:pPr>
            <a:r>
              <a:rPr lang="en-US" sz="20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20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논문</a:t>
            </a:r>
            <a:r>
              <a:rPr lang="en-US" sz="20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, </a:t>
            </a:r>
            <a:r>
              <a:rPr lang="en-US" sz="20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한자</a:t>
            </a:r>
            <a:r>
              <a:rPr lang="en-US" sz="20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20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태그</a:t>
            </a:r>
            <a:r>
              <a:rPr lang="en-US" sz="20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20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부착하여</a:t>
            </a:r>
            <a:endParaRPr lang="en-US" sz="2000" dirty="0">
              <a:solidFill>
                <a:srgbClr val="475569"/>
              </a:solidFill>
              <a:latin typeface="Pretendard"/>
              <a:ea typeface="Pretendard"/>
              <a:cs typeface="Pretendard"/>
              <a:sym typeface="Pretendard"/>
            </a:endParaRPr>
          </a:p>
          <a:p>
            <a:pPr algn="ctr">
              <a:lnSpc>
                <a:spcPts val="2559"/>
              </a:lnSpc>
            </a:pPr>
            <a:r>
              <a:rPr lang="en-US" sz="20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20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논리적</a:t>
            </a:r>
            <a:r>
              <a:rPr lang="en-US" sz="20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20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신뢰성</a:t>
            </a:r>
            <a:r>
              <a:rPr lang="en-US" sz="20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20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확보</a:t>
            </a:r>
            <a:endParaRPr lang="en-US" sz="2000" dirty="0">
              <a:solidFill>
                <a:srgbClr val="475569"/>
              </a:solidFill>
              <a:latin typeface="Pretendard"/>
              <a:ea typeface="Pretendard"/>
              <a:cs typeface="Pretendard"/>
              <a:sym typeface="Pretendar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43201" y="1748412"/>
            <a:ext cx="14539800" cy="7890888"/>
          </a:xfrm>
          <a:custGeom>
            <a:avLst/>
            <a:gdLst/>
            <a:ahLst/>
            <a:cxnLst/>
            <a:rect l="l" t="t" r="r" b="b"/>
            <a:pathLst>
              <a:path w="16490663" h="9049251">
                <a:moveTo>
                  <a:pt x="0" y="0"/>
                </a:moveTo>
                <a:lnTo>
                  <a:pt x="16490662" y="0"/>
                </a:lnTo>
                <a:lnTo>
                  <a:pt x="16490662" y="9049251"/>
                </a:lnTo>
                <a:lnTo>
                  <a:pt x="0" y="9049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16">
            <a:extLst>
              <a:ext uri="{FF2B5EF4-FFF2-40B4-BE49-F238E27FC236}">
                <a16:creationId xmlns:a16="http://schemas.microsoft.com/office/drawing/2014/main" id="{29BC564D-F73A-7756-A649-2F48A14CDEE4}"/>
              </a:ext>
            </a:extLst>
          </p:cNvPr>
          <p:cNvGrpSpPr/>
          <p:nvPr/>
        </p:nvGrpSpPr>
        <p:grpSpPr>
          <a:xfrm>
            <a:off x="857250" y="714375"/>
            <a:ext cx="16573500" cy="631327"/>
            <a:chOff x="0" y="0"/>
            <a:chExt cx="22098000" cy="841769"/>
          </a:xfrm>
        </p:grpSpPr>
        <p:sp>
          <p:nvSpPr>
            <p:cNvPr id="4" name="Freeform 17">
              <a:extLst>
                <a:ext uri="{FF2B5EF4-FFF2-40B4-BE49-F238E27FC236}">
                  <a16:creationId xmlns:a16="http://schemas.microsoft.com/office/drawing/2014/main" id="{C3903287-AC10-D04A-C92A-651A2414C439}"/>
                </a:ext>
              </a:extLst>
            </p:cNvPr>
            <p:cNvSpPr/>
            <p:nvPr/>
          </p:nvSpPr>
          <p:spPr>
            <a:xfrm>
              <a:off x="0" y="0"/>
              <a:ext cx="22098000" cy="841770"/>
            </a:xfrm>
            <a:custGeom>
              <a:avLst/>
              <a:gdLst/>
              <a:ahLst/>
              <a:cxnLst/>
              <a:rect l="l" t="t" r="r" b="b"/>
              <a:pathLst>
                <a:path w="22098000" h="841770">
                  <a:moveTo>
                    <a:pt x="0" y="0"/>
                  </a:moveTo>
                  <a:lnTo>
                    <a:pt x="22098000" y="0"/>
                  </a:lnTo>
                  <a:lnTo>
                    <a:pt x="22098000" y="841770"/>
                  </a:lnTo>
                  <a:lnTo>
                    <a:pt x="0" y="841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61517" b="-46151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18">
              <a:extLst>
                <a:ext uri="{FF2B5EF4-FFF2-40B4-BE49-F238E27FC236}">
                  <a16:creationId xmlns:a16="http://schemas.microsoft.com/office/drawing/2014/main" id="{3B682EB3-0664-02B8-9415-78EBBB2B02A2}"/>
                </a:ext>
              </a:extLst>
            </p:cNvPr>
            <p:cNvSpPr txBox="1"/>
            <p:nvPr/>
          </p:nvSpPr>
          <p:spPr>
            <a:xfrm>
              <a:off x="0" y="9525"/>
              <a:ext cx="22098000" cy="832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D4ED8"/>
                  </a:solidFill>
                  <a:latin typeface="Pretendard"/>
                  <a:ea typeface="Pretendard"/>
                  <a:cs typeface="Pretendard"/>
                  <a:sym typeface="Pretendard"/>
                </a:rPr>
                <a:t>[INSIGHT]</a:t>
              </a:r>
            </a:p>
          </p:txBody>
        </p:sp>
      </p:grpSp>
      <p:sp>
        <p:nvSpPr>
          <p:cNvPr id="6" name="TextBox 19">
            <a:extLst>
              <a:ext uri="{FF2B5EF4-FFF2-40B4-BE49-F238E27FC236}">
                <a16:creationId xmlns:a16="http://schemas.microsoft.com/office/drawing/2014/main" id="{292E6E68-05E3-563A-99C9-FB38E697C2B6}"/>
              </a:ext>
            </a:extLst>
          </p:cNvPr>
          <p:cNvSpPr txBox="1"/>
          <p:nvPr/>
        </p:nvSpPr>
        <p:spPr>
          <a:xfrm>
            <a:off x="2549423" y="581025"/>
            <a:ext cx="5132232" cy="710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67"/>
              </a:lnSpc>
            </a:pPr>
            <a:r>
              <a:rPr lang="ko-KR" alt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시스템 구조</a:t>
            </a:r>
            <a:endParaRPr lang="en-US" sz="3825" b="1" dirty="0">
              <a:solidFill>
                <a:srgbClr val="0F172A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57250" y="714375"/>
            <a:ext cx="16573500" cy="631327"/>
            <a:chOff x="0" y="0"/>
            <a:chExt cx="22098000" cy="8417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098000" cy="841770"/>
            </a:xfrm>
            <a:custGeom>
              <a:avLst/>
              <a:gdLst/>
              <a:ahLst/>
              <a:cxnLst/>
              <a:rect l="l" t="t" r="r" b="b"/>
              <a:pathLst>
                <a:path w="22098000" h="841770">
                  <a:moveTo>
                    <a:pt x="0" y="0"/>
                  </a:moveTo>
                  <a:lnTo>
                    <a:pt x="22098000" y="0"/>
                  </a:lnTo>
                  <a:lnTo>
                    <a:pt x="22098000" y="841770"/>
                  </a:lnTo>
                  <a:lnTo>
                    <a:pt x="0" y="8417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1517" b="-46151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22098000" cy="832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D4ED8"/>
                  </a:solidFill>
                  <a:latin typeface="Pretendard"/>
                  <a:ea typeface="Pretendard"/>
                  <a:cs typeface="Pretendard"/>
                  <a:sym typeface="Pretendard"/>
                </a:rPr>
                <a:t>[SOLUTION]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881159" y="581025"/>
            <a:ext cx="2700530" cy="710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데이터</a:t>
            </a:r>
            <a:r>
              <a:rPr 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정제</a:t>
            </a:r>
            <a:endParaRPr lang="en-US" sz="3825" b="1" dirty="0">
              <a:solidFill>
                <a:srgbClr val="0F172A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57250" y="3488827"/>
            <a:ext cx="4143375" cy="385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수집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00625" y="3488827"/>
            <a:ext cx="4143375" cy="385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전처리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3488827"/>
            <a:ext cx="4143375" cy="385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인덱싱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87375" y="3488827"/>
            <a:ext cx="4143375" cy="385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검색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343688" y="8027655"/>
            <a:ext cx="5600624" cy="1048569"/>
            <a:chOff x="0" y="0"/>
            <a:chExt cx="7467498" cy="1398092"/>
          </a:xfrm>
        </p:grpSpPr>
        <p:grpSp>
          <p:nvGrpSpPr>
            <p:cNvPr id="13" name="Group 13"/>
            <p:cNvGrpSpPr/>
            <p:nvPr/>
          </p:nvGrpSpPr>
          <p:grpSpPr>
            <a:xfrm>
              <a:off x="177800" y="0"/>
              <a:ext cx="7111898" cy="1398092"/>
              <a:chOff x="0" y="0"/>
              <a:chExt cx="7111898" cy="1398092"/>
            </a:xfrm>
          </p:grpSpPr>
          <p:sp>
            <p:nvSpPr>
              <p:cNvPr id="14" name="Freeform 14" descr="image.png"/>
              <p:cNvSpPr/>
              <p:nvPr/>
            </p:nvSpPr>
            <p:spPr>
              <a:xfrm>
                <a:off x="0" y="0"/>
                <a:ext cx="7111873" cy="1398143"/>
              </a:xfrm>
              <a:custGeom>
                <a:avLst/>
                <a:gdLst/>
                <a:ahLst/>
                <a:cxnLst/>
                <a:rect l="l" t="t" r="r" b="b"/>
                <a:pathLst>
                  <a:path w="7111873" h="1398143">
                    <a:moveTo>
                      <a:pt x="0" y="0"/>
                    </a:moveTo>
                    <a:lnTo>
                      <a:pt x="7111873" y="0"/>
                    </a:lnTo>
                    <a:lnTo>
                      <a:pt x="7111873" y="1398143"/>
                    </a:lnTo>
                    <a:lnTo>
                      <a:pt x="0" y="13981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b="-4725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0" y="428625"/>
              <a:ext cx="7467498" cy="390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2563EB"/>
                  </a:solidFill>
                  <a:latin typeface="Pretendard Bold"/>
                  <a:ea typeface="Pretendard Bold"/>
                  <a:cs typeface="Pretendard Bold"/>
                  <a:sym typeface="Pretendard Bold"/>
                </a:rPr>
                <a:t>컬렉션별 전처리 분리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309660" y="2126752"/>
            <a:ext cx="1143000" cy="1143000"/>
            <a:chOff x="0" y="0"/>
            <a:chExt cx="1524000" cy="15240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500812" y="2126752"/>
            <a:ext cx="1143000" cy="1143000"/>
            <a:chOff x="0" y="0"/>
            <a:chExt cx="1524000" cy="152400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644188" y="2126752"/>
            <a:ext cx="1143000" cy="1143000"/>
            <a:chOff x="0" y="0"/>
            <a:chExt cx="1524000" cy="152400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787562" y="2126752"/>
            <a:ext cx="1143000" cy="1143000"/>
            <a:chOff x="0" y="0"/>
            <a:chExt cx="1524000" cy="1524000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38314" y="4034280"/>
            <a:ext cx="2981246" cy="3035399"/>
            <a:chOff x="0" y="0"/>
            <a:chExt cx="3974995" cy="4047199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3974995" cy="4047199"/>
              <a:chOff x="0" y="0"/>
              <a:chExt cx="3974995" cy="4047199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3975009" cy="4047148"/>
              </a:xfrm>
              <a:custGeom>
                <a:avLst/>
                <a:gdLst/>
                <a:ahLst/>
                <a:cxnLst/>
                <a:rect l="l" t="t" r="r" b="b"/>
                <a:pathLst>
                  <a:path w="3975009" h="4047148">
                    <a:moveTo>
                      <a:pt x="0" y="627413"/>
                    </a:moveTo>
                    <a:cubicBezTo>
                      <a:pt x="0" y="281130"/>
                      <a:pt x="23732" y="0"/>
                      <a:pt x="52965" y="0"/>
                    </a:cubicBezTo>
                    <a:lnTo>
                      <a:pt x="3922035" y="0"/>
                    </a:lnTo>
                    <a:cubicBezTo>
                      <a:pt x="3951311" y="0"/>
                      <a:pt x="3975009" y="281130"/>
                      <a:pt x="3975009" y="627413"/>
                    </a:cubicBezTo>
                    <a:lnTo>
                      <a:pt x="3975009" y="3419735"/>
                    </a:lnTo>
                    <a:cubicBezTo>
                      <a:pt x="3975009" y="3766531"/>
                      <a:pt x="3951267" y="4047148"/>
                      <a:pt x="3922035" y="4047148"/>
                    </a:cubicBezTo>
                    <a:lnTo>
                      <a:pt x="52965" y="4047148"/>
                    </a:lnTo>
                    <a:cubicBezTo>
                      <a:pt x="23732" y="4047148"/>
                      <a:pt x="0" y="3766017"/>
                      <a:pt x="0" y="34197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E2E8F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38624" y="164677"/>
              <a:ext cx="3344124" cy="3603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50422" lvl="1" indent="-175211" algn="l">
                <a:lnSpc>
                  <a:spcPts val="3116"/>
                </a:lnSpc>
                <a:buFont typeface="Pretendard"/>
                <a:buChar char="•"/>
              </a:pPr>
              <a:r>
                <a:rPr lang="en-US" sz="1623">
                  <a:solidFill>
                    <a:srgbClr val="334155"/>
                  </a:solidFill>
                  <a:latin typeface="Pretendard"/>
                  <a:ea typeface="Pretendard"/>
                  <a:cs typeface="Pretendard"/>
                  <a:sym typeface="Pretendard"/>
                </a:rPr>
                <a:t>한자사전 txt,  pdf</a:t>
              </a:r>
            </a:p>
            <a:p>
              <a:pPr marL="350422" lvl="1" indent="-175211" algn="l">
                <a:lnSpc>
                  <a:spcPts val="3116"/>
                </a:lnSpc>
                <a:buFont typeface="Pretendard"/>
                <a:buChar char="•"/>
              </a:pPr>
              <a:r>
                <a:rPr lang="en-US" sz="1623">
                  <a:solidFill>
                    <a:srgbClr val="334155"/>
                  </a:solidFill>
                  <a:latin typeface="Pretendard"/>
                  <a:ea typeface="Pretendard"/>
                  <a:cs typeface="Pretendard"/>
                  <a:sym typeface="Pretendard"/>
                </a:rPr>
                <a:t>법령 pdf</a:t>
              </a:r>
            </a:p>
            <a:p>
              <a:pPr marL="350422" lvl="1" indent="-175211" algn="l">
                <a:lnSpc>
                  <a:spcPts val="3116"/>
                </a:lnSpc>
                <a:buFont typeface="Pretendard"/>
                <a:buChar char="•"/>
              </a:pPr>
              <a:r>
                <a:rPr lang="en-US" sz="1623">
                  <a:solidFill>
                    <a:srgbClr val="334155"/>
                  </a:solidFill>
                  <a:latin typeface="Pretendard"/>
                  <a:ea typeface="Pretendard"/>
                  <a:cs typeface="Pretendard"/>
                  <a:sym typeface="Pretendard"/>
                </a:rPr>
                <a:t>학술논문 pdf</a:t>
              </a:r>
            </a:p>
            <a:p>
              <a:pPr marL="350422" lvl="1" indent="-175211" algn="l">
                <a:lnSpc>
                  <a:spcPts val="3116"/>
                </a:lnSpc>
                <a:buFont typeface="Pretendard"/>
                <a:buChar char="•"/>
              </a:pPr>
              <a:r>
                <a:rPr lang="en-US" sz="1623">
                  <a:solidFill>
                    <a:srgbClr val="334155"/>
                  </a:solidFill>
                  <a:latin typeface="Pretendard"/>
                  <a:ea typeface="Pretendard"/>
                  <a:cs typeface="Pretendard"/>
                  <a:sym typeface="Pretendard"/>
                </a:rPr>
                <a:t>순우리말 크롤링</a:t>
              </a:r>
            </a:p>
            <a:p>
              <a:pPr marL="350422" lvl="1" indent="-175211" algn="l">
                <a:lnSpc>
                  <a:spcPts val="3116"/>
                </a:lnSpc>
                <a:buFont typeface="Pretendard"/>
                <a:buChar char="•"/>
              </a:pPr>
              <a:r>
                <a:rPr lang="en-US" sz="1623">
                  <a:solidFill>
                    <a:srgbClr val="334155"/>
                  </a:solidFill>
                  <a:latin typeface="Pretendard"/>
                  <a:ea typeface="Pretendard"/>
                  <a:cs typeface="Pretendard"/>
                  <a:sym typeface="Pretendard"/>
                </a:rPr>
                <a:t>오행구분표 xlsx</a:t>
              </a:r>
            </a:p>
            <a:p>
              <a:pPr marL="350422" lvl="1" indent="-175211" algn="l">
                <a:lnSpc>
                  <a:spcPts val="3116"/>
                </a:lnSpc>
                <a:buFont typeface="Pretendard"/>
                <a:buChar char="•"/>
              </a:pPr>
              <a:r>
                <a:rPr lang="en-US" sz="1623">
                  <a:solidFill>
                    <a:srgbClr val="334155"/>
                  </a:solidFill>
                  <a:latin typeface="Pretendard"/>
                  <a:ea typeface="Pretendard"/>
                  <a:cs typeface="Pretendard"/>
                  <a:sym typeface="Pretendard"/>
                </a:rPr>
                <a:t>성씨 유래 정보 csv</a:t>
              </a:r>
            </a:p>
            <a:p>
              <a:pPr marL="350422" lvl="1" indent="-175211" algn="l">
                <a:lnSpc>
                  <a:spcPts val="3116"/>
                </a:lnSpc>
                <a:buFont typeface="Pretendard"/>
                <a:buChar char="•"/>
              </a:pPr>
              <a:r>
                <a:rPr lang="en-US" sz="1623">
                  <a:solidFill>
                    <a:srgbClr val="334155"/>
                  </a:solidFill>
                  <a:latin typeface="Pretendard"/>
                  <a:ea typeface="Pretendard"/>
                  <a:cs typeface="Pretendard"/>
                  <a:sym typeface="Pretendard"/>
                </a:rPr>
                <a:t>81 수리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581689" y="4034280"/>
            <a:ext cx="2981246" cy="1850250"/>
            <a:chOff x="0" y="0"/>
            <a:chExt cx="3974995" cy="2467000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3974995" cy="2467000"/>
              <a:chOff x="0" y="0"/>
              <a:chExt cx="3974995" cy="24670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3975009" cy="2466969"/>
              </a:xfrm>
              <a:custGeom>
                <a:avLst/>
                <a:gdLst/>
                <a:ahLst/>
                <a:cxnLst/>
                <a:rect l="l" t="t" r="r" b="b"/>
                <a:pathLst>
                  <a:path w="3975009" h="2466969">
                    <a:moveTo>
                      <a:pt x="0" y="382444"/>
                    </a:moveTo>
                    <a:cubicBezTo>
                      <a:pt x="0" y="171365"/>
                      <a:pt x="23732" y="0"/>
                      <a:pt x="52965" y="0"/>
                    </a:cubicBezTo>
                    <a:lnTo>
                      <a:pt x="3922035" y="0"/>
                    </a:lnTo>
                    <a:cubicBezTo>
                      <a:pt x="3951311" y="0"/>
                      <a:pt x="3975009" y="171365"/>
                      <a:pt x="3975009" y="382444"/>
                    </a:cubicBezTo>
                    <a:lnTo>
                      <a:pt x="3975009" y="2084525"/>
                    </a:lnTo>
                    <a:cubicBezTo>
                      <a:pt x="3975009" y="2295917"/>
                      <a:pt x="3951267" y="2466969"/>
                      <a:pt x="3922035" y="2466969"/>
                    </a:cubicBezTo>
                    <a:lnTo>
                      <a:pt x="52965" y="2466969"/>
                    </a:lnTo>
                    <a:cubicBezTo>
                      <a:pt x="23732" y="2466969"/>
                      <a:pt x="0" y="2295604"/>
                      <a:pt x="0" y="2084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E2E8F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338624" y="164677"/>
              <a:ext cx="3344124" cy="20233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50422" lvl="1" indent="-175211" algn="l">
                <a:lnSpc>
                  <a:spcPts val="3116"/>
                </a:lnSpc>
                <a:buFont typeface="Pretendard"/>
                <a:buChar char="•"/>
              </a:pPr>
              <a:r>
                <a:rPr lang="en-US" sz="1623">
                  <a:solidFill>
                    <a:srgbClr val="334155"/>
                  </a:solidFill>
                  <a:latin typeface="Pretendard"/>
                  <a:ea typeface="Pretendard"/>
                  <a:cs typeface="Pretendard"/>
                  <a:sym typeface="Pretendard"/>
                </a:rPr>
                <a:t>한자 획수 기준</a:t>
              </a:r>
            </a:p>
            <a:p>
              <a:pPr marL="350422" lvl="1" indent="-175211" algn="l">
                <a:lnSpc>
                  <a:spcPts val="3116"/>
                </a:lnSpc>
                <a:buFont typeface="Pretendard"/>
                <a:buChar char="•"/>
              </a:pPr>
              <a:r>
                <a:rPr lang="en-US" sz="1623">
                  <a:solidFill>
                    <a:srgbClr val="334155"/>
                  </a:solidFill>
                  <a:latin typeface="Pretendard"/>
                  <a:ea typeface="Pretendard"/>
                  <a:cs typeface="Pretendard"/>
                  <a:sym typeface="Pretendard"/>
                </a:rPr>
                <a:t>pdf 파싱</a:t>
              </a:r>
            </a:p>
            <a:p>
              <a:pPr marL="350422" lvl="1" indent="-175211" algn="l">
                <a:lnSpc>
                  <a:spcPts val="3116"/>
                </a:lnSpc>
                <a:buFont typeface="Pretendard"/>
                <a:buChar char="•"/>
              </a:pPr>
              <a:r>
                <a:rPr lang="en-US" sz="1623">
                  <a:solidFill>
                    <a:srgbClr val="334155"/>
                  </a:solidFill>
                  <a:latin typeface="Pretendard"/>
                  <a:ea typeface="Pretendard"/>
                  <a:cs typeface="Pretendard"/>
                  <a:sym typeface="Pretendard"/>
                </a:rPr>
                <a:t>형태소 분석</a:t>
              </a:r>
            </a:p>
            <a:p>
              <a:pPr marL="350422" lvl="1" indent="-175211" algn="l">
                <a:lnSpc>
                  <a:spcPts val="3116"/>
                </a:lnSpc>
                <a:buFont typeface="Pretendard"/>
                <a:buChar char="•"/>
              </a:pPr>
              <a:r>
                <a:rPr lang="en-US" sz="1623">
                  <a:solidFill>
                    <a:srgbClr val="334155"/>
                  </a:solidFill>
                  <a:latin typeface="Pretendard"/>
                  <a:ea typeface="Pretendard"/>
                  <a:cs typeface="Pretendard"/>
                  <a:sym typeface="Pretendard"/>
                </a:rPr>
                <a:t>오행 xlsx 병합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25064" y="4034280"/>
            <a:ext cx="2981246" cy="1455200"/>
            <a:chOff x="0" y="0"/>
            <a:chExt cx="3974995" cy="1940267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3974995" cy="1940267"/>
              <a:chOff x="0" y="0"/>
              <a:chExt cx="3974995" cy="194026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3975009" cy="1940243"/>
              </a:xfrm>
              <a:custGeom>
                <a:avLst/>
                <a:gdLst/>
                <a:ahLst/>
                <a:cxnLst/>
                <a:rect l="l" t="t" r="r" b="b"/>
                <a:pathLst>
                  <a:path w="3975009" h="1940243">
                    <a:moveTo>
                      <a:pt x="0" y="300788"/>
                    </a:moveTo>
                    <a:cubicBezTo>
                      <a:pt x="0" y="134777"/>
                      <a:pt x="23732" y="0"/>
                      <a:pt x="52965" y="0"/>
                    </a:cubicBezTo>
                    <a:lnTo>
                      <a:pt x="3922035" y="0"/>
                    </a:lnTo>
                    <a:cubicBezTo>
                      <a:pt x="3951311" y="0"/>
                      <a:pt x="3975009" y="134777"/>
                      <a:pt x="3975009" y="300788"/>
                    </a:cubicBezTo>
                    <a:lnTo>
                      <a:pt x="3975009" y="1639455"/>
                    </a:lnTo>
                    <a:cubicBezTo>
                      <a:pt x="3975009" y="1805712"/>
                      <a:pt x="3951267" y="1940243"/>
                      <a:pt x="3922035" y="1940243"/>
                    </a:cubicBezTo>
                    <a:lnTo>
                      <a:pt x="52965" y="1940243"/>
                    </a:lnTo>
                    <a:cubicBezTo>
                      <a:pt x="23732" y="1940242"/>
                      <a:pt x="0" y="1805466"/>
                      <a:pt x="0" y="163945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E2E8F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338624" y="164677"/>
              <a:ext cx="3344124" cy="14966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50422" lvl="1" indent="-175211" algn="l">
                <a:lnSpc>
                  <a:spcPts val="3116"/>
                </a:lnSpc>
                <a:buFont typeface="Pretendard"/>
                <a:buChar char="•"/>
              </a:pPr>
              <a:r>
                <a:rPr lang="en-US" sz="1623">
                  <a:solidFill>
                    <a:srgbClr val="334155"/>
                  </a:solidFill>
                  <a:latin typeface="Pretendard"/>
                  <a:ea typeface="Pretendard"/>
                  <a:cs typeface="Pretendard"/>
                  <a:sym typeface="Pretendard"/>
                </a:rPr>
                <a:t>ChromaDB 컬렉션</a:t>
              </a:r>
            </a:p>
            <a:p>
              <a:pPr marL="350422" lvl="1" indent="-175211" algn="l">
                <a:lnSpc>
                  <a:spcPts val="3116"/>
                </a:lnSpc>
                <a:buFont typeface="Pretendard"/>
                <a:buChar char="•"/>
              </a:pPr>
              <a:r>
                <a:rPr lang="en-US" sz="1623">
                  <a:solidFill>
                    <a:srgbClr val="334155"/>
                  </a:solidFill>
                  <a:latin typeface="Pretendard"/>
                  <a:ea typeface="Pretendard"/>
                  <a:cs typeface="Pretendard"/>
                  <a:sym typeface="Pretendard"/>
                </a:rPr>
                <a:t>Neo4j 그래프</a:t>
              </a:r>
            </a:p>
            <a:p>
              <a:pPr marL="350422" lvl="1" indent="-175211" algn="l">
                <a:lnSpc>
                  <a:spcPts val="3116"/>
                </a:lnSpc>
                <a:buFont typeface="Pretendard"/>
                <a:buChar char="•"/>
              </a:pPr>
              <a:r>
                <a:rPr lang="en-US" sz="1623">
                  <a:solidFill>
                    <a:srgbClr val="334155"/>
                  </a:solidFill>
                  <a:latin typeface="Pretendard"/>
                  <a:ea typeface="Pretendard"/>
                  <a:cs typeface="Pretendard"/>
                  <a:sym typeface="Pretendard"/>
                </a:rPr>
                <a:t>메타 데이터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868439" y="4034280"/>
            <a:ext cx="2981246" cy="1850250"/>
            <a:chOff x="0" y="0"/>
            <a:chExt cx="3974995" cy="2467000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3974995" cy="2467000"/>
              <a:chOff x="0" y="0"/>
              <a:chExt cx="3974995" cy="24670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3975009" cy="2466969"/>
              </a:xfrm>
              <a:custGeom>
                <a:avLst/>
                <a:gdLst/>
                <a:ahLst/>
                <a:cxnLst/>
                <a:rect l="l" t="t" r="r" b="b"/>
                <a:pathLst>
                  <a:path w="3975009" h="2466969">
                    <a:moveTo>
                      <a:pt x="0" y="382444"/>
                    </a:moveTo>
                    <a:cubicBezTo>
                      <a:pt x="0" y="171365"/>
                      <a:pt x="23732" y="0"/>
                      <a:pt x="52965" y="0"/>
                    </a:cubicBezTo>
                    <a:lnTo>
                      <a:pt x="3922035" y="0"/>
                    </a:lnTo>
                    <a:cubicBezTo>
                      <a:pt x="3951311" y="0"/>
                      <a:pt x="3975009" y="171365"/>
                      <a:pt x="3975009" y="382444"/>
                    </a:cubicBezTo>
                    <a:lnTo>
                      <a:pt x="3975009" y="2084525"/>
                    </a:lnTo>
                    <a:cubicBezTo>
                      <a:pt x="3975009" y="2295917"/>
                      <a:pt x="3951267" y="2466969"/>
                      <a:pt x="3922035" y="2466969"/>
                    </a:cubicBezTo>
                    <a:lnTo>
                      <a:pt x="52965" y="2466969"/>
                    </a:lnTo>
                    <a:cubicBezTo>
                      <a:pt x="23732" y="2466969"/>
                      <a:pt x="0" y="2295604"/>
                      <a:pt x="0" y="2084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E2E8F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338624" y="164677"/>
              <a:ext cx="3344124" cy="20233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50422" lvl="1" indent="-175211" algn="l">
                <a:lnSpc>
                  <a:spcPts val="3116"/>
                </a:lnSpc>
                <a:buFont typeface="Pretendard"/>
                <a:buChar char="•"/>
              </a:pPr>
              <a:r>
                <a:rPr lang="en-US" sz="1623">
                  <a:solidFill>
                    <a:srgbClr val="334155"/>
                  </a:solidFill>
                  <a:latin typeface="Pretendard"/>
                  <a:ea typeface="Pretendard"/>
                  <a:cs typeface="Pretendard"/>
                  <a:sym typeface="Pretendard"/>
                </a:rPr>
                <a:t>벡터 유사도</a:t>
              </a:r>
            </a:p>
            <a:p>
              <a:pPr marL="350422" lvl="1" indent="-175211" algn="l">
                <a:lnSpc>
                  <a:spcPts val="3116"/>
                </a:lnSpc>
                <a:buFont typeface="Pretendard"/>
                <a:buChar char="•"/>
              </a:pPr>
              <a:r>
                <a:rPr lang="en-US" sz="1623">
                  <a:solidFill>
                    <a:srgbClr val="334155"/>
                  </a:solidFill>
                  <a:latin typeface="Pretendard"/>
                  <a:ea typeface="Pretendard"/>
                  <a:cs typeface="Pretendard"/>
                  <a:sym typeface="Pretendard"/>
                </a:rPr>
                <a:t>그래프 탐색</a:t>
              </a:r>
            </a:p>
            <a:p>
              <a:pPr marL="350422" lvl="1" indent="-175211" algn="l">
                <a:lnSpc>
                  <a:spcPts val="3116"/>
                </a:lnSpc>
                <a:buFont typeface="Pretendard"/>
                <a:buChar char="•"/>
              </a:pPr>
              <a:r>
                <a:rPr lang="en-US" sz="1623">
                  <a:solidFill>
                    <a:srgbClr val="334155"/>
                  </a:solidFill>
                  <a:latin typeface="Pretendard"/>
                  <a:ea typeface="Pretendard"/>
                  <a:cs typeface="Pretendard"/>
                  <a:sym typeface="Pretendard"/>
                </a:rPr>
                <a:t>API 조회</a:t>
              </a:r>
            </a:p>
            <a:p>
              <a:pPr marL="350422" lvl="1" indent="-175211" algn="l">
                <a:lnSpc>
                  <a:spcPts val="3116"/>
                </a:lnSpc>
                <a:buFont typeface="Pretendard"/>
                <a:buChar char="•"/>
              </a:pPr>
              <a:r>
                <a:rPr lang="en-US" sz="1623">
                  <a:solidFill>
                    <a:srgbClr val="334155"/>
                  </a:solidFill>
                  <a:latin typeface="Pretendard"/>
                  <a:ea typeface="Pretendard"/>
                  <a:cs typeface="Pretendard"/>
                  <a:sym typeface="Pretendard"/>
                </a:rPr>
                <a:t>메타 필터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0157069" y="1917202"/>
            <a:ext cx="7273671" cy="7655423"/>
            <a:chOff x="0" y="0"/>
            <a:chExt cx="9698228" cy="10207231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9698228" cy="10207244"/>
            </a:xfrm>
            <a:custGeom>
              <a:avLst/>
              <a:gdLst/>
              <a:ahLst/>
              <a:cxnLst/>
              <a:rect l="l" t="t" r="r" b="b"/>
              <a:pathLst>
                <a:path w="9698228" h="10207244">
                  <a:moveTo>
                    <a:pt x="0" y="0"/>
                  </a:moveTo>
                  <a:lnTo>
                    <a:pt x="9698228" y="0"/>
                  </a:lnTo>
                  <a:lnTo>
                    <a:pt x="9698228" y="10207244"/>
                  </a:lnTo>
                  <a:lnTo>
                    <a:pt x="0" y="10207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714375"/>
            <a:ext cx="16573500" cy="631327"/>
            <a:chOff x="0" y="0"/>
            <a:chExt cx="22098000" cy="8417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098000" cy="841770"/>
            </a:xfrm>
            <a:custGeom>
              <a:avLst/>
              <a:gdLst/>
              <a:ahLst/>
              <a:cxnLst/>
              <a:rect l="l" t="t" r="r" b="b"/>
              <a:pathLst>
                <a:path w="22098000" h="841770">
                  <a:moveTo>
                    <a:pt x="0" y="0"/>
                  </a:moveTo>
                  <a:lnTo>
                    <a:pt x="22098000" y="0"/>
                  </a:lnTo>
                  <a:lnTo>
                    <a:pt x="22098000" y="841770"/>
                  </a:lnTo>
                  <a:lnTo>
                    <a:pt x="0" y="841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61517" b="-46151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22098000" cy="832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D4ED8"/>
                  </a:solidFill>
                  <a:latin typeface="Pretendard"/>
                  <a:ea typeface="Pretendard"/>
                  <a:cs typeface="Pretendard"/>
                  <a:sym typeface="Pretendard"/>
                </a:rPr>
                <a:t>[SOLUTION]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881160" y="581025"/>
            <a:ext cx="6567640" cy="710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컬렉션</a:t>
            </a:r>
            <a:r>
              <a:rPr 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데이터</a:t>
            </a:r>
            <a:endParaRPr lang="en-US" sz="3825" b="1" dirty="0">
              <a:solidFill>
                <a:srgbClr val="0F172A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857250" y="1917202"/>
            <a:ext cx="571500" cy="571500"/>
            <a:chOff x="0" y="0"/>
            <a:chExt cx="762000" cy="7620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25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43062" y="1912963"/>
            <a:ext cx="1742094" cy="494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475" b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컬렉션 구성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50106" y="3010195"/>
            <a:ext cx="8742607" cy="751437"/>
            <a:chOff x="0" y="0"/>
            <a:chExt cx="11656809" cy="100191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656823" cy="1001903"/>
            </a:xfrm>
            <a:custGeom>
              <a:avLst/>
              <a:gdLst/>
              <a:ahLst/>
              <a:cxnLst/>
              <a:rect l="l" t="t" r="r" b="b"/>
              <a:pathLst>
                <a:path w="11656823" h="1001903">
                  <a:moveTo>
                    <a:pt x="0" y="155321"/>
                  </a:moveTo>
                  <a:cubicBezTo>
                    <a:pt x="0" y="69596"/>
                    <a:pt x="69596" y="0"/>
                    <a:pt x="155321" y="0"/>
                  </a:cubicBezTo>
                  <a:lnTo>
                    <a:pt x="11501501" y="0"/>
                  </a:lnTo>
                  <a:cubicBezTo>
                    <a:pt x="11587353" y="0"/>
                    <a:pt x="11656823" y="69596"/>
                    <a:pt x="11656823" y="155321"/>
                  </a:cubicBezTo>
                  <a:lnTo>
                    <a:pt x="11656823" y="846582"/>
                  </a:lnTo>
                  <a:cubicBezTo>
                    <a:pt x="11656823" y="932434"/>
                    <a:pt x="11587226" y="1001903"/>
                    <a:pt x="11501501" y="1001903"/>
                  </a:cubicBezTo>
                  <a:lnTo>
                    <a:pt x="155321" y="1001903"/>
                  </a:lnTo>
                  <a:cubicBezTo>
                    <a:pt x="69596" y="1001903"/>
                    <a:pt x="0" y="932307"/>
                    <a:pt x="0" y="84658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43000" y="3155479"/>
            <a:ext cx="8156819" cy="387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 b="1" dirty="0" err="1">
                <a:solidFill>
                  <a:srgbClr val="334155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hanja_col</a:t>
            </a:r>
            <a:r>
              <a:rPr lang="en-US" sz="1800" b="1" dirty="0">
                <a:solidFill>
                  <a:srgbClr val="334155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(2,438건):</a:t>
            </a:r>
            <a:r>
              <a:rPr lang="en-US" sz="1800" dirty="0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 err="1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한자</a:t>
            </a:r>
            <a:r>
              <a:rPr lang="en-US" sz="1800" dirty="0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 err="1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뜻·획수·오행</a:t>
            </a:r>
            <a:r>
              <a:rPr lang="en-US" sz="1800" dirty="0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300" dirty="0">
                <a:solidFill>
                  <a:srgbClr val="94A3B8"/>
                </a:solidFill>
                <a:latin typeface="Pretendard"/>
                <a:ea typeface="Pretendard"/>
                <a:cs typeface="Pretendard"/>
                <a:sym typeface="Pretendard"/>
              </a:rPr>
              <a:t>(</a:t>
            </a:r>
            <a:r>
              <a:rPr lang="en-US" sz="1300" dirty="0" err="1">
                <a:solidFill>
                  <a:srgbClr val="94A3B8"/>
                </a:solidFill>
                <a:latin typeface="Pretendard"/>
                <a:ea typeface="Pretendard"/>
                <a:cs typeface="Pretendard"/>
                <a:sym typeface="Pretendard"/>
              </a:rPr>
              <a:t>정제</a:t>
            </a:r>
            <a:r>
              <a:rPr lang="en-US" sz="1300" dirty="0">
                <a:solidFill>
                  <a:srgbClr val="94A3B8"/>
                </a:solidFill>
                <a:latin typeface="Pretendard"/>
                <a:ea typeface="Pretendard"/>
                <a:cs typeface="Pretendard"/>
                <a:sym typeface="Pretendard"/>
              </a:rPr>
              <a:t> 2,420건 </a:t>
            </a:r>
            <a:r>
              <a:rPr lang="en-US" sz="1300" dirty="0" err="1">
                <a:solidFill>
                  <a:srgbClr val="94A3B8"/>
                </a:solidFill>
                <a:latin typeface="Pretendard"/>
                <a:ea typeface="Pretendard"/>
                <a:cs typeface="Pretendard"/>
                <a:sym typeface="Pretendard"/>
              </a:rPr>
              <a:t>기준</a:t>
            </a:r>
            <a:r>
              <a:rPr lang="en-US" sz="1300" dirty="0">
                <a:solidFill>
                  <a:srgbClr val="94A3B8"/>
                </a:solidFill>
                <a:latin typeface="Pretendard"/>
                <a:ea typeface="Pretendard"/>
                <a:cs typeface="Pretendard"/>
                <a:sym typeface="Pretendard"/>
              </a:rPr>
              <a:t>)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50106" y="3961657"/>
            <a:ext cx="8742607" cy="751437"/>
            <a:chOff x="0" y="0"/>
            <a:chExt cx="11656809" cy="100191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656823" cy="1001903"/>
            </a:xfrm>
            <a:custGeom>
              <a:avLst/>
              <a:gdLst/>
              <a:ahLst/>
              <a:cxnLst/>
              <a:rect l="l" t="t" r="r" b="b"/>
              <a:pathLst>
                <a:path w="11656823" h="1001903">
                  <a:moveTo>
                    <a:pt x="0" y="155321"/>
                  </a:moveTo>
                  <a:cubicBezTo>
                    <a:pt x="0" y="69596"/>
                    <a:pt x="69596" y="0"/>
                    <a:pt x="155321" y="0"/>
                  </a:cubicBezTo>
                  <a:lnTo>
                    <a:pt x="11501501" y="0"/>
                  </a:lnTo>
                  <a:cubicBezTo>
                    <a:pt x="11587353" y="0"/>
                    <a:pt x="11656823" y="69596"/>
                    <a:pt x="11656823" y="155321"/>
                  </a:cubicBezTo>
                  <a:lnTo>
                    <a:pt x="11656823" y="846582"/>
                  </a:lnTo>
                  <a:cubicBezTo>
                    <a:pt x="11656823" y="932434"/>
                    <a:pt x="11587226" y="1001903"/>
                    <a:pt x="11501501" y="1001903"/>
                  </a:cubicBezTo>
                  <a:lnTo>
                    <a:pt x="155321" y="1001903"/>
                  </a:lnTo>
                  <a:cubicBezTo>
                    <a:pt x="69596" y="1001903"/>
                    <a:pt x="0" y="932307"/>
                    <a:pt x="0" y="84658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43000" y="4069879"/>
            <a:ext cx="8156819" cy="387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 b="1" dirty="0" err="1">
                <a:solidFill>
                  <a:srgbClr val="334155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suri_col</a:t>
            </a:r>
            <a:r>
              <a:rPr lang="en-US" sz="1800" b="1" dirty="0">
                <a:solidFill>
                  <a:srgbClr val="334155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(81건):</a:t>
            </a:r>
            <a:r>
              <a:rPr lang="en-US" sz="1800" dirty="0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 81수리 </a:t>
            </a:r>
            <a:r>
              <a:rPr lang="en-US" sz="1800" dirty="0" err="1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길흉</a:t>
            </a:r>
            <a:endParaRPr lang="en-US" sz="1800" dirty="0">
              <a:solidFill>
                <a:srgbClr val="334155"/>
              </a:solidFill>
              <a:latin typeface="Pretendard"/>
              <a:ea typeface="Pretendard"/>
              <a:cs typeface="Pretendard"/>
              <a:sym typeface="Pretendard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850106" y="4913109"/>
            <a:ext cx="8742607" cy="751437"/>
            <a:chOff x="0" y="0"/>
            <a:chExt cx="11656809" cy="10019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656823" cy="1001903"/>
            </a:xfrm>
            <a:custGeom>
              <a:avLst/>
              <a:gdLst/>
              <a:ahLst/>
              <a:cxnLst/>
              <a:rect l="l" t="t" r="r" b="b"/>
              <a:pathLst>
                <a:path w="11656823" h="1001903">
                  <a:moveTo>
                    <a:pt x="0" y="155321"/>
                  </a:moveTo>
                  <a:cubicBezTo>
                    <a:pt x="0" y="69596"/>
                    <a:pt x="69596" y="0"/>
                    <a:pt x="155321" y="0"/>
                  </a:cubicBezTo>
                  <a:lnTo>
                    <a:pt x="11501501" y="0"/>
                  </a:lnTo>
                  <a:cubicBezTo>
                    <a:pt x="11587353" y="0"/>
                    <a:pt x="11656823" y="69596"/>
                    <a:pt x="11656823" y="155321"/>
                  </a:cubicBezTo>
                  <a:lnTo>
                    <a:pt x="11656823" y="846582"/>
                  </a:lnTo>
                  <a:cubicBezTo>
                    <a:pt x="11656823" y="932434"/>
                    <a:pt x="11587226" y="1001903"/>
                    <a:pt x="11501501" y="1001903"/>
                  </a:cubicBezTo>
                  <a:lnTo>
                    <a:pt x="155321" y="1001903"/>
                  </a:lnTo>
                  <a:cubicBezTo>
                    <a:pt x="69596" y="1001903"/>
                    <a:pt x="0" y="932307"/>
                    <a:pt x="0" y="84658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43000" y="5015951"/>
            <a:ext cx="8156819" cy="508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 b="1" dirty="0" err="1">
                <a:solidFill>
                  <a:srgbClr val="334155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law_col</a:t>
            </a:r>
            <a:r>
              <a:rPr lang="en-US" sz="1800" b="1" dirty="0">
                <a:solidFill>
                  <a:srgbClr val="334155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(248건):</a:t>
            </a:r>
            <a:r>
              <a:rPr lang="en-US" sz="1800" dirty="0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 err="1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가족관계등록법·인명용한자</a:t>
            </a:r>
            <a:r>
              <a:rPr lang="en-US" sz="1800" dirty="0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300" dirty="0">
                <a:solidFill>
                  <a:srgbClr val="94A3B8"/>
                </a:solidFill>
                <a:latin typeface="Pretendard"/>
                <a:ea typeface="Pretendard"/>
                <a:cs typeface="Pretendard"/>
                <a:sym typeface="Pretendard"/>
              </a:rPr>
              <a:t>(</a:t>
            </a:r>
            <a:r>
              <a:rPr lang="en-US" sz="1300" dirty="0" err="1">
                <a:solidFill>
                  <a:srgbClr val="94A3B8"/>
                </a:solidFill>
                <a:latin typeface="Pretendard"/>
                <a:ea typeface="Pretendard"/>
                <a:cs typeface="Pretendard"/>
                <a:sym typeface="Pretendard"/>
              </a:rPr>
              <a:t>원천</a:t>
            </a:r>
            <a:r>
              <a:rPr lang="en-US" sz="1300" dirty="0">
                <a:solidFill>
                  <a:srgbClr val="94A3B8"/>
                </a:solidFill>
                <a:latin typeface="Pretendard"/>
                <a:ea typeface="Pretendard"/>
                <a:cs typeface="Pretendard"/>
                <a:sym typeface="Pretendard"/>
              </a:rPr>
              <a:t> 250건, </a:t>
            </a:r>
            <a:r>
              <a:rPr lang="en-US" sz="1300" dirty="0" err="1">
                <a:solidFill>
                  <a:srgbClr val="94A3B8"/>
                </a:solidFill>
                <a:latin typeface="Pretendard"/>
                <a:ea typeface="Pretendard"/>
                <a:cs typeface="Pretendard"/>
                <a:sym typeface="Pretendard"/>
              </a:rPr>
              <a:t>중복</a:t>
            </a:r>
            <a:r>
              <a:rPr lang="en-US" sz="1300" dirty="0">
                <a:solidFill>
                  <a:srgbClr val="94A3B8"/>
                </a:solidFill>
                <a:latin typeface="Pretendard"/>
                <a:ea typeface="Pretendard"/>
                <a:cs typeface="Pretendard"/>
                <a:sym typeface="Pretendard"/>
              </a:rPr>
              <a:t> 2건 </a:t>
            </a:r>
            <a:r>
              <a:rPr lang="en-US" sz="1300" dirty="0" err="1">
                <a:solidFill>
                  <a:srgbClr val="94A3B8"/>
                </a:solidFill>
                <a:latin typeface="Pretendard"/>
                <a:ea typeface="Pretendard"/>
                <a:cs typeface="Pretendard"/>
                <a:sym typeface="Pretendard"/>
              </a:rPr>
              <a:t>제외</a:t>
            </a:r>
            <a:r>
              <a:rPr lang="en-US" sz="1300" dirty="0">
                <a:solidFill>
                  <a:srgbClr val="94A3B8"/>
                </a:solidFill>
                <a:latin typeface="Pretendard"/>
                <a:ea typeface="Pretendard"/>
                <a:cs typeface="Pretendard"/>
                <a:sym typeface="Pretendard"/>
              </a:rPr>
              <a:t>)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50106" y="5864571"/>
            <a:ext cx="8742607" cy="751437"/>
            <a:chOff x="0" y="0"/>
            <a:chExt cx="11656809" cy="100191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656823" cy="1001903"/>
            </a:xfrm>
            <a:custGeom>
              <a:avLst/>
              <a:gdLst/>
              <a:ahLst/>
              <a:cxnLst/>
              <a:rect l="l" t="t" r="r" b="b"/>
              <a:pathLst>
                <a:path w="11656823" h="1001903">
                  <a:moveTo>
                    <a:pt x="0" y="155321"/>
                  </a:moveTo>
                  <a:cubicBezTo>
                    <a:pt x="0" y="69596"/>
                    <a:pt x="69596" y="0"/>
                    <a:pt x="155321" y="0"/>
                  </a:cubicBezTo>
                  <a:lnTo>
                    <a:pt x="11501501" y="0"/>
                  </a:lnTo>
                  <a:cubicBezTo>
                    <a:pt x="11587353" y="0"/>
                    <a:pt x="11656823" y="69596"/>
                    <a:pt x="11656823" y="155321"/>
                  </a:cubicBezTo>
                  <a:lnTo>
                    <a:pt x="11656823" y="846582"/>
                  </a:lnTo>
                  <a:cubicBezTo>
                    <a:pt x="11656823" y="932434"/>
                    <a:pt x="11587226" y="1001903"/>
                    <a:pt x="11501501" y="1001903"/>
                  </a:cubicBezTo>
                  <a:lnTo>
                    <a:pt x="155321" y="1001903"/>
                  </a:lnTo>
                  <a:cubicBezTo>
                    <a:pt x="69596" y="1001903"/>
                    <a:pt x="0" y="932307"/>
                    <a:pt x="0" y="84658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43000" y="6006551"/>
            <a:ext cx="8156819" cy="508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 b="1" dirty="0" err="1">
                <a:solidFill>
                  <a:srgbClr val="334155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ohaeng_col</a:t>
            </a:r>
            <a:r>
              <a:rPr lang="en-US" sz="1800" b="1" dirty="0">
                <a:solidFill>
                  <a:srgbClr val="334155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(125건):</a:t>
            </a:r>
            <a:r>
              <a:rPr lang="en-US" sz="1800" dirty="0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 err="1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오행</a:t>
            </a:r>
            <a:r>
              <a:rPr lang="en-US" sz="1800" dirty="0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 err="1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조합</a:t>
            </a:r>
            <a:r>
              <a:rPr lang="en-US" sz="1800" dirty="0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 err="1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길흉</a:t>
            </a:r>
            <a:endParaRPr lang="en-US" sz="1800" dirty="0">
              <a:solidFill>
                <a:srgbClr val="334155"/>
              </a:solidFill>
              <a:latin typeface="Pretendard"/>
              <a:ea typeface="Pretendard"/>
              <a:cs typeface="Pretendard"/>
              <a:sym typeface="Pretendard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850106" y="6816033"/>
            <a:ext cx="8742607" cy="751437"/>
            <a:chOff x="0" y="0"/>
            <a:chExt cx="11656809" cy="100191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656823" cy="1001903"/>
            </a:xfrm>
            <a:custGeom>
              <a:avLst/>
              <a:gdLst/>
              <a:ahLst/>
              <a:cxnLst/>
              <a:rect l="l" t="t" r="r" b="b"/>
              <a:pathLst>
                <a:path w="11656823" h="1001903">
                  <a:moveTo>
                    <a:pt x="0" y="155321"/>
                  </a:moveTo>
                  <a:cubicBezTo>
                    <a:pt x="0" y="69596"/>
                    <a:pt x="69596" y="0"/>
                    <a:pt x="155321" y="0"/>
                  </a:cubicBezTo>
                  <a:lnTo>
                    <a:pt x="11501501" y="0"/>
                  </a:lnTo>
                  <a:cubicBezTo>
                    <a:pt x="11587353" y="0"/>
                    <a:pt x="11656823" y="69596"/>
                    <a:pt x="11656823" y="155321"/>
                  </a:cubicBezTo>
                  <a:lnTo>
                    <a:pt x="11656823" y="846582"/>
                  </a:lnTo>
                  <a:cubicBezTo>
                    <a:pt x="11656823" y="932434"/>
                    <a:pt x="11587226" y="1001903"/>
                    <a:pt x="11501501" y="1001903"/>
                  </a:cubicBezTo>
                  <a:lnTo>
                    <a:pt x="155321" y="1001903"/>
                  </a:lnTo>
                  <a:cubicBezTo>
                    <a:pt x="69596" y="1001903"/>
                    <a:pt x="0" y="932307"/>
                    <a:pt x="0" y="84658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43000" y="6920951"/>
            <a:ext cx="8156819" cy="508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 b="1" dirty="0" err="1">
                <a:solidFill>
                  <a:srgbClr val="334155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urimalsam_col</a:t>
            </a:r>
            <a:r>
              <a:rPr lang="en-US" sz="1800" b="1" dirty="0">
                <a:solidFill>
                  <a:srgbClr val="334155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(301건):</a:t>
            </a:r>
            <a:r>
              <a:rPr lang="en-US" sz="1800" dirty="0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 err="1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순우리말</a:t>
            </a:r>
            <a:r>
              <a:rPr lang="en-US" sz="1800" dirty="0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 err="1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이름</a:t>
            </a:r>
            <a:endParaRPr lang="en-US" sz="1800" dirty="0">
              <a:solidFill>
                <a:srgbClr val="334155"/>
              </a:solidFill>
              <a:latin typeface="Pretendard"/>
              <a:ea typeface="Pretendard"/>
              <a:cs typeface="Pretendard"/>
              <a:sym typeface="Pretendard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850106" y="7767485"/>
            <a:ext cx="8742607" cy="751437"/>
            <a:chOff x="0" y="0"/>
            <a:chExt cx="11656809" cy="100191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656823" cy="1001903"/>
            </a:xfrm>
            <a:custGeom>
              <a:avLst/>
              <a:gdLst/>
              <a:ahLst/>
              <a:cxnLst/>
              <a:rect l="l" t="t" r="r" b="b"/>
              <a:pathLst>
                <a:path w="11656823" h="1001903">
                  <a:moveTo>
                    <a:pt x="0" y="155321"/>
                  </a:moveTo>
                  <a:cubicBezTo>
                    <a:pt x="0" y="69596"/>
                    <a:pt x="69596" y="0"/>
                    <a:pt x="155321" y="0"/>
                  </a:cubicBezTo>
                  <a:lnTo>
                    <a:pt x="11501501" y="0"/>
                  </a:lnTo>
                  <a:cubicBezTo>
                    <a:pt x="11587353" y="0"/>
                    <a:pt x="11656823" y="69596"/>
                    <a:pt x="11656823" y="155321"/>
                  </a:cubicBezTo>
                  <a:lnTo>
                    <a:pt x="11656823" y="846582"/>
                  </a:lnTo>
                  <a:cubicBezTo>
                    <a:pt x="11656823" y="932434"/>
                    <a:pt x="11587226" y="1001903"/>
                    <a:pt x="11501501" y="1001903"/>
                  </a:cubicBezTo>
                  <a:lnTo>
                    <a:pt x="155321" y="1001903"/>
                  </a:lnTo>
                  <a:cubicBezTo>
                    <a:pt x="69596" y="1001903"/>
                    <a:pt x="0" y="932307"/>
                    <a:pt x="0" y="84658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43000" y="7831779"/>
            <a:ext cx="8156819" cy="387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 b="1" dirty="0" err="1">
                <a:solidFill>
                  <a:srgbClr val="334155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paper_col</a:t>
            </a:r>
            <a:r>
              <a:rPr lang="en-US" sz="1800" b="1" dirty="0">
                <a:solidFill>
                  <a:srgbClr val="334155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(264청크):</a:t>
            </a:r>
            <a:r>
              <a:rPr lang="en-US" sz="1800" dirty="0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 err="1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학술논문</a:t>
            </a:r>
            <a:r>
              <a:rPr lang="en-US" sz="1800" dirty="0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 3편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031824" y="2060077"/>
            <a:ext cx="222352" cy="285750"/>
            <a:chOff x="0" y="0"/>
            <a:chExt cx="296469" cy="381000"/>
          </a:xfrm>
        </p:grpSpPr>
        <p:sp>
          <p:nvSpPr>
            <p:cNvPr id="32" name="Freeform 32" descr="image.png"/>
            <p:cNvSpPr/>
            <p:nvPr/>
          </p:nvSpPr>
          <p:spPr>
            <a:xfrm>
              <a:off x="0" y="0"/>
              <a:ext cx="296418" cy="381000"/>
            </a:xfrm>
            <a:custGeom>
              <a:avLst/>
              <a:gdLst/>
              <a:ahLst/>
              <a:cxnLst/>
              <a:rect l="l" t="t" r="r" b="b"/>
              <a:pathLst>
                <a:path w="296418" h="381000">
                  <a:moveTo>
                    <a:pt x="0" y="0"/>
                  </a:moveTo>
                  <a:lnTo>
                    <a:pt x="296418" y="0"/>
                  </a:lnTo>
                  <a:lnTo>
                    <a:pt x="296418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017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57250" y="3740201"/>
            <a:ext cx="8728319" cy="14288"/>
            <a:chOff x="0" y="0"/>
            <a:chExt cx="11637759" cy="190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637772" cy="19050"/>
            </a:xfrm>
            <a:custGeom>
              <a:avLst/>
              <a:gdLst/>
              <a:ahLst/>
              <a:cxnLst/>
              <a:rect l="l" t="t" r="r" b="b"/>
              <a:pathLst>
                <a:path w="11637772" h="19050">
                  <a:moveTo>
                    <a:pt x="0" y="0"/>
                  </a:moveTo>
                  <a:lnTo>
                    <a:pt x="11637772" y="0"/>
                  </a:lnTo>
                  <a:lnTo>
                    <a:pt x="1163777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57250" y="4691653"/>
            <a:ext cx="8728319" cy="14288"/>
            <a:chOff x="0" y="0"/>
            <a:chExt cx="11637759" cy="1905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1637772" cy="19050"/>
            </a:xfrm>
            <a:custGeom>
              <a:avLst/>
              <a:gdLst/>
              <a:ahLst/>
              <a:cxnLst/>
              <a:rect l="l" t="t" r="r" b="b"/>
              <a:pathLst>
                <a:path w="11637772" h="19050">
                  <a:moveTo>
                    <a:pt x="0" y="0"/>
                  </a:moveTo>
                  <a:lnTo>
                    <a:pt x="11637772" y="0"/>
                  </a:lnTo>
                  <a:lnTo>
                    <a:pt x="1163777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57250" y="5643115"/>
            <a:ext cx="8728319" cy="14288"/>
            <a:chOff x="0" y="0"/>
            <a:chExt cx="11637759" cy="1905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1637772" cy="19050"/>
            </a:xfrm>
            <a:custGeom>
              <a:avLst/>
              <a:gdLst/>
              <a:ahLst/>
              <a:cxnLst/>
              <a:rect l="l" t="t" r="r" b="b"/>
              <a:pathLst>
                <a:path w="11637772" h="19050">
                  <a:moveTo>
                    <a:pt x="0" y="0"/>
                  </a:moveTo>
                  <a:lnTo>
                    <a:pt x="11637772" y="0"/>
                  </a:lnTo>
                  <a:lnTo>
                    <a:pt x="1163777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57250" y="6594577"/>
            <a:ext cx="8728319" cy="14288"/>
            <a:chOff x="0" y="0"/>
            <a:chExt cx="11637759" cy="1905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1637772" cy="19050"/>
            </a:xfrm>
            <a:custGeom>
              <a:avLst/>
              <a:gdLst/>
              <a:ahLst/>
              <a:cxnLst/>
              <a:rect l="l" t="t" r="r" b="b"/>
              <a:pathLst>
                <a:path w="11637772" h="19050">
                  <a:moveTo>
                    <a:pt x="0" y="0"/>
                  </a:moveTo>
                  <a:lnTo>
                    <a:pt x="11637772" y="0"/>
                  </a:lnTo>
                  <a:lnTo>
                    <a:pt x="1163777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57250" y="7546029"/>
            <a:ext cx="8728319" cy="14288"/>
            <a:chOff x="0" y="0"/>
            <a:chExt cx="11637759" cy="1905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637772" cy="19050"/>
            </a:xfrm>
            <a:custGeom>
              <a:avLst/>
              <a:gdLst/>
              <a:ahLst/>
              <a:cxnLst/>
              <a:rect l="l" t="t" r="r" b="b"/>
              <a:pathLst>
                <a:path w="11637772" h="19050">
                  <a:moveTo>
                    <a:pt x="0" y="0"/>
                  </a:moveTo>
                  <a:lnTo>
                    <a:pt x="11637772" y="0"/>
                  </a:lnTo>
                  <a:lnTo>
                    <a:pt x="1163777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57250" y="8497491"/>
            <a:ext cx="8728319" cy="14288"/>
            <a:chOff x="0" y="0"/>
            <a:chExt cx="11637759" cy="1905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1637772" cy="19050"/>
            </a:xfrm>
            <a:custGeom>
              <a:avLst/>
              <a:gdLst/>
              <a:ahLst/>
              <a:cxnLst/>
              <a:rect l="l" t="t" r="r" b="b"/>
              <a:pathLst>
                <a:path w="11637772" h="19050">
                  <a:moveTo>
                    <a:pt x="0" y="0"/>
                  </a:moveTo>
                  <a:lnTo>
                    <a:pt x="11637772" y="0"/>
                  </a:lnTo>
                  <a:lnTo>
                    <a:pt x="1163777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599982" y="2431552"/>
            <a:ext cx="571500" cy="571500"/>
            <a:chOff x="0" y="0"/>
            <a:chExt cx="762000" cy="762000"/>
          </a:xfrm>
        </p:grpSpPr>
        <p:sp>
          <p:nvSpPr>
            <p:cNvPr id="46" name="Freeform 46" descr="image.png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385794" y="2427313"/>
            <a:ext cx="1742094" cy="494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475" b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설계 포인트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0774556" y="2574427"/>
            <a:ext cx="222352" cy="285750"/>
            <a:chOff x="0" y="0"/>
            <a:chExt cx="296469" cy="381000"/>
          </a:xfrm>
        </p:grpSpPr>
        <p:sp>
          <p:nvSpPr>
            <p:cNvPr id="49" name="Freeform 49" descr="image.png"/>
            <p:cNvSpPr/>
            <p:nvPr/>
          </p:nvSpPr>
          <p:spPr>
            <a:xfrm>
              <a:off x="0" y="0"/>
              <a:ext cx="296418" cy="381000"/>
            </a:xfrm>
            <a:custGeom>
              <a:avLst/>
              <a:gdLst/>
              <a:ahLst/>
              <a:cxnLst/>
              <a:rect l="l" t="t" r="r" b="b"/>
              <a:pathLst>
                <a:path w="296418" h="381000">
                  <a:moveTo>
                    <a:pt x="0" y="0"/>
                  </a:moveTo>
                  <a:lnTo>
                    <a:pt x="296418" y="0"/>
                  </a:lnTo>
                  <a:lnTo>
                    <a:pt x="296418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2853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0599982" y="3498352"/>
            <a:ext cx="6707248" cy="410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025" b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컬렉션 분리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599982" y="3865883"/>
            <a:ext cx="638784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도메인 간 검색 간섭 방지 (예: 수리 질의가 한자 결과 오염 방지)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599982" y="4604071"/>
            <a:ext cx="6707248" cy="410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025" b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메타데이터 필터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599982" y="4971602"/>
            <a:ext cx="638784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획수·오행 조건 자동 적용 (hanja_col 전용 기능)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599982" y="5709790"/>
            <a:ext cx="6707248" cy="410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025" b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paper_col 특화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599982" y="6077321"/>
            <a:ext cx="638784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"표"/"통계" 포함 질의 시 통계표 청크 우선 반환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857250" y="714375"/>
            <a:ext cx="16573500" cy="631327"/>
            <a:chOff x="0" y="0"/>
            <a:chExt cx="22098000" cy="8417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098000" cy="841770"/>
            </a:xfrm>
            <a:custGeom>
              <a:avLst/>
              <a:gdLst/>
              <a:ahLst/>
              <a:cxnLst/>
              <a:rect l="l" t="t" r="r" b="b"/>
              <a:pathLst>
                <a:path w="22098000" h="841770">
                  <a:moveTo>
                    <a:pt x="0" y="0"/>
                  </a:moveTo>
                  <a:lnTo>
                    <a:pt x="22098000" y="0"/>
                  </a:lnTo>
                  <a:lnTo>
                    <a:pt x="22098000" y="841770"/>
                  </a:lnTo>
                  <a:lnTo>
                    <a:pt x="0" y="8417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1517" b="-46151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22098000" cy="832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D4ED8"/>
                  </a:solidFill>
                  <a:latin typeface="Pretendard"/>
                  <a:ea typeface="Pretendard"/>
                  <a:cs typeface="Pretendard"/>
                  <a:sym typeface="Pretendard"/>
                </a:rPr>
                <a:t>[SOLUTION]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881160" y="581025"/>
            <a:ext cx="8320240" cy="710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한자와</a:t>
            </a:r>
            <a:r>
              <a:rPr 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오행의</a:t>
            </a:r>
            <a:r>
              <a:rPr 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관계는</a:t>
            </a:r>
            <a:r>
              <a:rPr 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그래프로</a:t>
            </a:r>
            <a:r>
              <a:rPr 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모델링</a:t>
            </a:r>
            <a:endParaRPr lang="en-US" sz="3825" b="1" dirty="0">
              <a:solidFill>
                <a:srgbClr val="0F172A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9587826" y="4125296"/>
            <a:ext cx="6400800" cy="5440185"/>
            <a:chOff x="0" y="0"/>
            <a:chExt cx="8534400" cy="725358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8534400" cy="7253605"/>
            </a:xfrm>
            <a:custGeom>
              <a:avLst/>
              <a:gdLst/>
              <a:ahLst/>
              <a:cxnLst/>
              <a:rect l="l" t="t" r="r" b="b"/>
              <a:pathLst>
                <a:path w="8534400" h="7253605">
                  <a:moveTo>
                    <a:pt x="0" y="0"/>
                  </a:moveTo>
                  <a:lnTo>
                    <a:pt x="8534400" y="0"/>
                  </a:lnTo>
                  <a:lnTo>
                    <a:pt x="8534400" y="7253605"/>
                  </a:lnTo>
                  <a:lnTo>
                    <a:pt x="0" y="7253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6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017017" y="2433093"/>
            <a:ext cx="2584150" cy="1182738"/>
            <a:chOff x="0" y="0"/>
            <a:chExt cx="3445533" cy="1576984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3445533" cy="1576959"/>
            </a:xfrm>
            <a:custGeom>
              <a:avLst/>
              <a:gdLst/>
              <a:ahLst/>
              <a:cxnLst/>
              <a:rect l="l" t="t" r="r" b="b"/>
              <a:pathLst>
                <a:path w="3445533" h="1576959">
                  <a:moveTo>
                    <a:pt x="0" y="0"/>
                  </a:moveTo>
                  <a:lnTo>
                    <a:pt x="3445533" y="0"/>
                  </a:lnTo>
                  <a:lnTo>
                    <a:pt x="3445533" y="1576959"/>
                  </a:lnTo>
                  <a:lnTo>
                    <a:pt x="0" y="1576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8738" r="-38738" b="-26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142509" y="2425084"/>
            <a:ext cx="2407480" cy="1182738"/>
            <a:chOff x="0" y="0"/>
            <a:chExt cx="3209973" cy="1576984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3209973" cy="1576959"/>
            </a:xfrm>
            <a:custGeom>
              <a:avLst/>
              <a:gdLst/>
              <a:ahLst/>
              <a:cxnLst/>
              <a:rect l="l" t="t" r="r" b="b"/>
              <a:pathLst>
                <a:path w="3209973" h="1576959">
                  <a:moveTo>
                    <a:pt x="0" y="0"/>
                  </a:moveTo>
                  <a:lnTo>
                    <a:pt x="3209973" y="0"/>
                  </a:lnTo>
                  <a:lnTo>
                    <a:pt x="3209973" y="1576959"/>
                  </a:lnTo>
                  <a:lnTo>
                    <a:pt x="0" y="1576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5250" r="-45250" b="-26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173614" y="5333933"/>
            <a:ext cx="5229225" cy="28575"/>
            <a:chOff x="0" y="0"/>
            <a:chExt cx="6972300" cy="38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72300" cy="38100"/>
            </a:xfrm>
            <a:custGeom>
              <a:avLst/>
              <a:gdLst/>
              <a:ahLst/>
              <a:cxnLst/>
              <a:rect l="l" t="t" r="r" b="b"/>
              <a:pathLst>
                <a:path w="6972300" h="38100">
                  <a:moveTo>
                    <a:pt x="0" y="0"/>
                  </a:moveTo>
                  <a:lnTo>
                    <a:pt x="6972300" y="0"/>
                  </a:lnTo>
                  <a:lnTo>
                    <a:pt x="69723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2299374" y="3162300"/>
            <a:ext cx="5269655" cy="5298320"/>
          </a:xfrm>
          <a:custGeom>
            <a:avLst/>
            <a:gdLst/>
            <a:ahLst/>
            <a:cxnLst/>
            <a:rect l="l" t="t" r="r" b="b"/>
            <a:pathLst>
              <a:path w="5269655" h="5298320">
                <a:moveTo>
                  <a:pt x="0" y="0"/>
                </a:moveTo>
                <a:lnTo>
                  <a:pt x="5269655" y="0"/>
                </a:lnTo>
                <a:lnTo>
                  <a:pt x="5269655" y="5298320"/>
                </a:lnTo>
                <a:lnTo>
                  <a:pt x="0" y="52983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1840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10173614" y="4625359"/>
            <a:ext cx="5490686" cy="522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475" b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활용 케이스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73614" y="5729220"/>
            <a:ext cx="5229225" cy="83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2563EB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케이스 1</a:t>
            </a:r>
            <a:r>
              <a:rPr lang="en-US" sz="1800">
                <a:solidFill>
                  <a:srgbClr val="1E293B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"목오행 한자 중 금오행과 상극인 것 제외"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73614" y="6934952"/>
            <a:ext cx="5229225" cy="83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2563EB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케이스 2</a:t>
            </a:r>
            <a:r>
              <a:rPr lang="en-US" sz="1800">
                <a:solidFill>
                  <a:srgbClr val="1E293B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"화오행 성씨와 상생하는 오행 추천"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73614" y="8140684"/>
            <a:ext cx="5229225" cy="83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2563EB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케이스 3</a:t>
            </a:r>
            <a:r>
              <a:rPr lang="en-US" sz="1800">
                <a:solidFill>
                  <a:srgbClr val="1E293B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>
                <a:solidFill>
                  <a:srgbClr val="334155"/>
                </a:solidFill>
                <a:latin typeface="Pretendard"/>
                <a:ea typeface="Pretendard"/>
                <a:cs typeface="Pretendard"/>
                <a:sym typeface="Pretendard"/>
              </a:rPr>
              <a:t>"이름 전체 오행 흐름 검증"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09092" y="2585493"/>
            <a:ext cx="2400000" cy="383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7"/>
              </a:lnSpc>
            </a:pPr>
            <a:r>
              <a:rPr lang="en-US" sz="2025" b="1" dirty="0" err="1">
                <a:solidFill>
                  <a:srgbClr val="38BDF8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ChromaDB</a:t>
            </a:r>
            <a:endParaRPr lang="en-US" sz="2025" b="1" dirty="0">
              <a:solidFill>
                <a:srgbClr val="38BDF8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109092" y="2953025"/>
            <a:ext cx="2400000" cy="35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2"/>
              </a:lnSpc>
            </a:pPr>
            <a:r>
              <a:rPr lang="en-US" sz="1575">
                <a:solidFill>
                  <a:srgbClr val="64748B"/>
                </a:solidFill>
                <a:latin typeface="Pretendard"/>
                <a:ea typeface="Pretendard"/>
                <a:cs typeface="Pretendard"/>
                <a:sym typeface="Pretendard"/>
              </a:rPr>
              <a:t>의미 유사도 검색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763499" y="2599790"/>
            <a:ext cx="1024002" cy="383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7"/>
              </a:lnSpc>
            </a:pPr>
            <a:r>
              <a:rPr lang="en-US" sz="2025" b="1">
                <a:solidFill>
                  <a:srgbClr val="10B981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Neo4j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763499" y="2945015"/>
            <a:ext cx="923405" cy="35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2"/>
              </a:lnSpc>
            </a:pPr>
            <a:r>
              <a:rPr lang="en-US" sz="1575">
                <a:solidFill>
                  <a:srgbClr val="64748B"/>
                </a:solidFill>
                <a:latin typeface="Pretendard"/>
                <a:ea typeface="Pretendard"/>
                <a:cs typeface="Pretendard"/>
                <a:sym typeface="Pretendard"/>
              </a:rPr>
              <a:t>관계 탐색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57250" y="3243021"/>
            <a:ext cx="5238598" cy="4209012"/>
            <a:chOff x="0" y="0"/>
            <a:chExt cx="6984797" cy="5612016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6984746" cy="5612003"/>
            </a:xfrm>
            <a:custGeom>
              <a:avLst/>
              <a:gdLst/>
              <a:ahLst/>
              <a:cxnLst/>
              <a:rect l="l" t="t" r="r" b="b"/>
              <a:pathLst>
                <a:path w="6984746" h="5612003">
                  <a:moveTo>
                    <a:pt x="0" y="0"/>
                  </a:moveTo>
                  <a:lnTo>
                    <a:pt x="6984746" y="0"/>
                  </a:lnTo>
                  <a:lnTo>
                    <a:pt x="6984746" y="5612003"/>
                  </a:lnTo>
                  <a:lnTo>
                    <a:pt x="0" y="5612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4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524473" y="3243021"/>
            <a:ext cx="5238826" cy="4209012"/>
            <a:chOff x="0" y="0"/>
            <a:chExt cx="6985102" cy="5612016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6985127" cy="5612003"/>
            </a:xfrm>
            <a:custGeom>
              <a:avLst/>
              <a:gdLst/>
              <a:ahLst/>
              <a:cxnLst/>
              <a:rect l="l" t="t" r="r" b="b"/>
              <a:pathLst>
                <a:path w="6985127" h="5612003">
                  <a:moveTo>
                    <a:pt x="0" y="0"/>
                  </a:moveTo>
                  <a:lnTo>
                    <a:pt x="6985127" y="0"/>
                  </a:lnTo>
                  <a:lnTo>
                    <a:pt x="6985127" y="5612003"/>
                  </a:lnTo>
                  <a:lnTo>
                    <a:pt x="0" y="5612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2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91924" y="3243021"/>
            <a:ext cx="5238598" cy="4209012"/>
            <a:chOff x="0" y="0"/>
            <a:chExt cx="6984797" cy="5612016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6984746" cy="5612003"/>
            </a:xfrm>
            <a:custGeom>
              <a:avLst/>
              <a:gdLst/>
              <a:ahLst/>
              <a:cxnLst/>
              <a:rect l="l" t="t" r="r" b="b"/>
              <a:pathLst>
                <a:path w="6984746" h="5612003">
                  <a:moveTo>
                    <a:pt x="0" y="0"/>
                  </a:moveTo>
                  <a:lnTo>
                    <a:pt x="6984746" y="0"/>
                  </a:lnTo>
                  <a:lnTo>
                    <a:pt x="6984746" y="5612003"/>
                  </a:lnTo>
                  <a:lnTo>
                    <a:pt x="0" y="5612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4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67385" y="6209020"/>
            <a:ext cx="4353001" cy="642938"/>
            <a:chOff x="0" y="0"/>
            <a:chExt cx="5804002" cy="85725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5804027" cy="857250"/>
            </a:xfrm>
            <a:custGeom>
              <a:avLst/>
              <a:gdLst/>
              <a:ahLst/>
              <a:cxnLst/>
              <a:rect l="l" t="t" r="r" b="b"/>
              <a:pathLst>
                <a:path w="5804027" h="857250">
                  <a:moveTo>
                    <a:pt x="0" y="0"/>
                  </a:moveTo>
                  <a:lnTo>
                    <a:pt x="5804027" y="0"/>
                  </a:lnTo>
                  <a:lnTo>
                    <a:pt x="5804027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771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57250" y="732078"/>
            <a:ext cx="16573500" cy="631327"/>
            <a:chOff x="0" y="0"/>
            <a:chExt cx="22098000" cy="84176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098000" cy="841770"/>
            </a:xfrm>
            <a:custGeom>
              <a:avLst/>
              <a:gdLst/>
              <a:ahLst/>
              <a:cxnLst/>
              <a:rect l="l" t="t" r="r" b="b"/>
              <a:pathLst>
                <a:path w="22098000" h="841770">
                  <a:moveTo>
                    <a:pt x="0" y="0"/>
                  </a:moveTo>
                  <a:lnTo>
                    <a:pt x="22098000" y="0"/>
                  </a:lnTo>
                  <a:lnTo>
                    <a:pt x="22098000" y="841770"/>
                  </a:lnTo>
                  <a:lnTo>
                    <a:pt x="0" y="84177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461517" b="-46151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22098000" cy="832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D4ED8"/>
                  </a:solidFill>
                  <a:latin typeface="Pretendard"/>
                  <a:ea typeface="Pretendard"/>
                  <a:cs typeface="Pretendard"/>
                  <a:sym typeface="Pretendard"/>
                </a:rPr>
                <a:t>[SOLUTION]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881160" y="581025"/>
            <a:ext cx="5373672" cy="710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16개 </a:t>
            </a: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도구가</a:t>
            </a:r>
            <a:r>
              <a:rPr 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역할을</a:t>
            </a:r>
            <a:r>
              <a:rPr 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분담</a:t>
            </a:r>
            <a:endParaRPr lang="en-US" sz="3825" b="1" dirty="0">
              <a:solidFill>
                <a:srgbClr val="0F172A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00163" y="3609733"/>
            <a:ext cx="4570419" cy="41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250" b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RAG·DB tool </a:t>
            </a:r>
            <a:r>
              <a:rPr lang="en-US" sz="2250">
                <a:solidFill>
                  <a:srgbClr val="64748B"/>
                </a:solidFill>
                <a:latin typeface="Pretendard"/>
                <a:ea typeface="Pretendard"/>
                <a:cs typeface="Pretendard"/>
                <a:sym typeface="Pretendard"/>
              </a:rPr>
              <a:t>(2+5개)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300162" y="4294495"/>
            <a:ext cx="4352773" cy="28575"/>
            <a:chOff x="0" y="0"/>
            <a:chExt cx="5803697" cy="381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803646" cy="38100"/>
            </a:xfrm>
            <a:custGeom>
              <a:avLst/>
              <a:gdLst/>
              <a:ahLst/>
              <a:cxnLst/>
              <a:rect l="l" t="t" r="r" b="b"/>
              <a:pathLst>
                <a:path w="5803646" h="38100">
                  <a:moveTo>
                    <a:pt x="0" y="0"/>
                  </a:moveTo>
                  <a:lnTo>
                    <a:pt x="5803646" y="0"/>
                  </a:lnTo>
                  <a:lnTo>
                    <a:pt x="580364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967385" y="3609733"/>
            <a:ext cx="4570647" cy="41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250" b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법령 tool </a:t>
            </a:r>
            <a:r>
              <a:rPr lang="en-US" sz="2250">
                <a:solidFill>
                  <a:srgbClr val="64748B"/>
                </a:solidFill>
                <a:latin typeface="Pretendard"/>
                <a:ea typeface="Pretendard"/>
                <a:cs typeface="Pretendard"/>
                <a:sym typeface="Pretendard"/>
              </a:rPr>
              <a:t>(3개)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967385" y="4294495"/>
            <a:ext cx="4353001" cy="28575"/>
            <a:chOff x="0" y="0"/>
            <a:chExt cx="5804002" cy="381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804027" cy="38100"/>
            </a:xfrm>
            <a:custGeom>
              <a:avLst/>
              <a:gdLst/>
              <a:ahLst/>
              <a:cxnLst/>
              <a:rect l="l" t="t" r="r" b="b"/>
              <a:pathLst>
                <a:path w="5804027" h="38100">
                  <a:moveTo>
                    <a:pt x="0" y="0"/>
                  </a:moveTo>
                  <a:lnTo>
                    <a:pt x="5804027" y="0"/>
                  </a:lnTo>
                  <a:lnTo>
                    <a:pt x="580402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2634836" y="3609733"/>
            <a:ext cx="4570419" cy="41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250" b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그래프 tool </a:t>
            </a:r>
            <a:r>
              <a:rPr lang="en-US" sz="2250">
                <a:solidFill>
                  <a:srgbClr val="64748B"/>
                </a:solidFill>
                <a:latin typeface="Pretendard"/>
                <a:ea typeface="Pretendard"/>
                <a:cs typeface="Pretendard"/>
                <a:sym typeface="Pretendard"/>
              </a:rPr>
              <a:t>(6개)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2634836" y="4294495"/>
            <a:ext cx="4352773" cy="28575"/>
            <a:chOff x="0" y="0"/>
            <a:chExt cx="5803697" cy="381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803646" cy="38100"/>
            </a:xfrm>
            <a:custGeom>
              <a:avLst/>
              <a:gdLst/>
              <a:ahLst/>
              <a:cxnLst/>
              <a:rect l="l" t="t" r="r" b="b"/>
              <a:pathLst>
                <a:path w="5803646" h="38100">
                  <a:moveTo>
                    <a:pt x="0" y="0"/>
                  </a:moveTo>
                  <a:lnTo>
                    <a:pt x="5803646" y="0"/>
                  </a:lnTo>
                  <a:lnTo>
                    <a:pt x="580364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450467" y="4494520"/>
            <a:ext cx="420247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search_rag (의미 검색)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50467" y="4837420"/>
            <a:ext cx="420247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list_collections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50467" y="5180320"/>
            <a:ext cx="420247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get_surname_strokes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50467" y="5523220"/>
            <a:ext cx="420247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find_lucky_strokes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50467" y="5866120"/>
            <a:ext cx="420247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calculate_name_suri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50467" y="6209020"/>
            <a:ext cx="420247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lookup_ohaeng_combo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50467" y="6551920"/>
            <a:ext cx="420247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search_name_stats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117690" y="4494520"/>
            <a:ext cx="420269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search_law (법령 조문 검색)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117690" y="4837420"/>
            <a:ext cx="420269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get_law_article (전문 조회)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117690" y="5180320"/>
            <a:ext cx="420269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verify_korean_word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8076905" y="6409045"/>
            <a:ext cx="177927" cy="228600"/>
            <a:chOff x="0" y="0"/>
            <a:chExt cx="237236" cy="304800"/>
          </a:xfrm>
        </p:grpSpPr>
        <p:sp>
          <p:nvSpPr>
            <p:cNvPr id="36" name="Freeform 36" descr="image.png"/>
            <p:cNvSpPr/>
            <p:nvPr/>
          </p:nvSpPr>
          <p:spPr>
            <a:xfrm>
              <a:off x="0" y="0"/>
              <a:ext cx="237236" cy="304800"/>
            </a:xfrm>
            <a:custGeom>
              <a:avLst/>
              <a:gdLst/>
              <a:ahLst/>
              <a:cxnLst/>
              <a:rect l="l" t="t" r="r" b="b"/>
              <a:pathLst>
                <a:path w="237236" h="304800">
                  <a:moveTo>
                    <a:pt x="0" y="0"/>
                  </a:moveTo>
                  <a:lnTo>
                    <a:pt x="237236" y="0"/>
                  </a:lnTo>
                  <a:lnTo>
                    <a:pt x="237236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2847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2785141" y="4494520"/>
            <a:ext cx="420247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lookup_hanja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785141" y="4837420"/>
            <a:ext cx="420247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check_person_name_hanja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785141" y="5180320"/>
            <a:ext cx="420247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recommend_hanja_by_ohaeng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785141" y="5523220"/>
            <a:ext cx="420247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get_ohaeng_relations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785141" y="5866120"/>
            <a:ext cx="420247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answer_graph_query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785141" y="6209020"/>
            <a:ext cx="420247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check_graph_status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958998" y="7553306"/>
            <a:ext cx="9525" cy="25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2191569" y="3024188"/>
            <a:ext cx="1143000" cy="1143000"/>
            <a:chOff x="0" y="0"/>
            <a:chExt cx="1524000" cy="15240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5124450"/>
            <a:ext cx="3811857" cy="2000250"/>
            <a:chOff x="0" y="0"/>
            <a:chExt cx="5082476" cy="26670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5082540" cy="2667000"/>
            </a:xfrm>
            <a:custGeom>
              <a:avLst/>
              <a:gdLst/>
              <a:ahLst/>
              <a:cxnLst/>
              <a:rect l="l" t="t" r="r" b="b"/>
              <a:pathLst>
                <a:path w="5082540" h="2667000">
                  <a:moveTo>
                    <a:pt x="0" y="0"/>
                  </a:moveTo>
                  <a:lnTo>
                    <a:pt x="5082540" y="0"/>
                  </a:lnTo>
                  <a:lnTo>
                    <a:pt x="5082540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-63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45444" y="3024188"/>
            <a:ext cx="1143000" cy="1143000"/>
            <a:chOff x="0" y="0"/>
            <a:chExt cx="1524000" cy="15240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111125" y="5124450"/>
            <a:ext cx="3811857" cy="2000250"/>
            <a:chOff x="0" y="0"/>
            <a:chExt cx="5082476" cy="26670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5082540" cy="2667000"/>
            </a:xfrm>
            <a:custGeom>
              <a:avLst/>
              <a:gdLst/>
              <a:ahLst/>
              <a:cxnLst/>
              <a:rect l="l" t="t" r="r" b="b"/>
              <a:pathLst>
                <a:path w="5082540" h="2667000">
                  <a:moveTo>
                    <a:pt x="0" y="0"/>
                  </a:moveTo>
                  <a:lnTo>
                    <a:pt x="5082540" y="0"/>
                  </a:lnTo>
                  <a:lnTo>
                    <a:pt x="5082540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-26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699328" y="3024188"/>
            <a:ext cx="1143000" cy="1143000"/>
            <a:chOff x="0" y="0"/>
            <a:chExt cx="1524000" cy="15240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65009" y="5124450"/>
            <a:ext cx="3811857" cy="2000250"/>
            <a:chOff x="0" y="0"/>
            <a:chExt cx="5082476" cy="26670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5082540" cy="2667000"/>
            </a:xfrm>
            <a:custGeom>
              <a:avLst/>
              <a:gdLst/>
              <a:ahLst/>
              <a:cxnLst/>
              <a:rect l="l" t="t" r="r" b="b"/>
              <a:pathLst>
                <a:path w="5082540" h="2667000">
                  <a:moveTo>
                    <a:pt x="0" y="0"/>
                  </a:moveTo>
                  <a:lnTo>
                    <a:pt x="5082540" y="0"/>
                  </a:lnTo>
                  <a:lnTo>
                    <a:pt x="5082540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1" b="-26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953212" y="3024188"/>
            <a:ext cx="1143000" cy="1143000"/>
            <a:chOff x="0" y="0"/>
            <a:chExt cx="1524000" cy="15240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618893" y="5124450"/>
            <a:ext cx="3811857" cy="2000250"/>
            <a:chOff x="0" y="0"/>
            <a:chExt cx="5082476" cy="266700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5082540" cy="2667000"/>
            </a:xfrm>
            <a:custGeom>
              <a:avLst/>
              <a:gdLst/>
              <a:ahLst/>
              <a:cxnLst/>
              <a:rect l="l" t="t" r="r" b="b"/>
              <a:pathLst>
                <a:path w="5082540" h="2667000">
                  <a:moveTo>
                    <a:pt x="0" y="0"/>
                  </a:moveTo>
                  <a:lnTo>
                    <a:pt x="5082540" y="0"/>
                  </a:lnTo>
                  <a:lnTo>
                    <a:pt x="5082540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1" b="-63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57250" y="714375"/>
            <a:ext cx="16573500" cy="631327"/>
            <a:chOff x="0" y="0"/>
            <a:chExt cx="22098000" cy="84176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2098000" cy="841770"/>
            </a:xfrm>
            <a:custGeom>
              <a:avLst/>
              <a:gdLst/>
              <a:ahLst/>
              <a:cxnLst/>
              <a:rect l="l" t="t" r="r" b="b"/>
              <a:pathLst>
                <a:path w="22098000" h="841770">
                  <a:moveTo>
                    <a:pt x="0" y="0"/>
                  </a:moveTo>
                  <a:lnTo>
                    <a:pt x="22098000" y="0"/>
                  </a:lnTo>
                  <a:lnTo>
                    <a:pt x="22098000" y="841770"/>
                  </a:lnTo>
                  <a:lnTo>
                    <a:pt x="0" y="84177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t="-461517" b="-46151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22098000" cy="832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D4ED8"/>
                  </a:solidFill>
                  <a:latin typeface="Pretendard"/>
                  <a:ea typeface="Pretendard"/>
                  <a:cs typeface="Pretendard"/>
                  <a:sym typeface="Pretendard"/>
                </a:rPr>
                <a:t>[SOLUTION]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881160" y="581025"/>
            <a:ext cx="5272240" cy="710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전체</a:t>
            </a:r>
            <a:r>
              <a:rPr 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데이터</a:t>
            </a:r>
            <a:r>
              <a:rPr 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처리</a:t>
            </a:r>
            <a:r>
              <a:rPr 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흐름도</a:t>
            </a:r>
            <a:endParaRPr lang="en-US" sz="3825" b="1" dirty="0">
              <a:solidFill>
                <a:srgbClr val="0F172A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852984" y="4524375"/>
            <a:ext cx="1728416" cy="3715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 err="1">
                <a:solidFill>
                  <a:srgbClr val="38BDF8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사용자</a:t>
            </a:r>
            <a:r>
              <a:rPr lang="en-US" sz="2499" b="1" dirty="0">
                <a:solidFill>
                  <a:srgbClr val="38BDF8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2499" b="1" dirty="0" err="1">
                <a:solidFill>
                  <a:srgbClr val="38BDF8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질의</a:t>
            </a:r>
            <a:endParaRPr lang="en-US" sz="2499" b="1" dirty="0">
              <a:solidFill>
                <a:srgbClr val="38BDF8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200956" y="4538625"/>
            <a:ext cx="1728416" cy="3715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 err="1">
                <a:solidFill>
                  <a:srgbClr val="38BDF8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질의</a:t>
            </a:r>
            <a:r>
              <a:rPr lang="en-US" sz="2499" b="1" dirty="0">
                <a:solidFill>
                  <a:srgbClr val="38BDF8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2499" b="1" dirty="0" err="1">
                <a:solidFill>
                  <a:srgbClr val="38BDF8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라우팅</a:t>
            </a:r>
            <a:endParaRPr lang="en-US" sz="2499" b="1" dirty="0">
              <a:solidFill>
                <a:srgbClr val="38BDF8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571197" y="4524375"/>
            <a:ext cx="1399261" cy="37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 err="1">
                <a:solidFill>
                  <a:srgbClr val="38BDF8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도구</a:t>
            </a:r>
            <a:r>
              <a:rPr lang="en-US" sz="2499" b="1" dirty="0">
                <a:solidFill>
                  <a:srgbClr val="38BDF8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2499" b="1" dirty="0" err="1">
                <a:solidFill>
                  <a:srgbClr val="38BDF8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실행</a:t>
            </a:r>
            <a:endParaRPr lang="en-US" sz="2499" b="1" dirty="0">
              <a:solidFill>
                <a:srgbClr val="38BDF8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4437723" y="4538625"/>
            <a:ext cx="2173977" cy="37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 err="1">
                <a:solidFill>
                  <a:srgbClr val="38BDF8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최종</a:t>
            </a:r>
            <a:r>
              <a:rPr lang="en-US" sz="2499" b="1" dirty="0">
                <a:solidFill>
                  <a:srgbClr val="38BDF8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2499" b="1" dirty="0" err="1">
                <a:solidFill>
                  <a:srgbClr val="38BDF8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답변</a:t>
            </a:r>
            <a:r>
              <a:rPr lang="en-US" sz="2499" b="1" dirty="0">
                <a:solidFill>
                  <a:srgbClr val="38BDF8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2499" b="1" dirty="0" err="1">
                <a:solidFill>
                  <a:srgbClr val="38BDF8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생성</a:t>
            </a:r>
            <a:endParaRPr lang="en-US" sz="2499" b="1" dirty="0">
              <a:solidFill>
                <a:srgbClr val="38BDF8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157287" y="5381625"/>
            <a:ext cx="3211782" cy="857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8"/>
              </a:lnSpc>
            </a:pPr>
            <a:r>
              <a:rPr lang="en-US" sz="2000" b="1">
                <a:solidFill>
                  <a:srgbClr val="475569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"이(李)씨 성, 목오행, 밝은 뜻 이름 추천해줘"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11162" y="5505450"/>
            <a:ext cx="3211782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2000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LangGraph</a:t>
            </a:r>
            <a:r>
              <a:rPr lang="en-US" sz="2000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2000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StateGraph</a:t>
            </a:r>
            <a:endParaRPr lang="en-US" sz="2000" b="1" dirty="0">
              <a:solidFill>
                <a:srgbClr val="0F172A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  <a:p>
            <a:pPr algn="l">
              <a:lnSpc>
                <a:spcPts val="2249"/>
              </a:lnSpc>
            </a:pPr>
            <a:endParaRPr lang="en-US" sz="2000" b="1" dirty="0">
              <a:solidFill>
                <a:srgbClr val="0F172A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  <a:p>
            <a:pPr algn="l">
              <a:lnSpc>
                <a:spcPts val="2248"/>
              </a:lnSpc>
            </a:pPr>
            <a:r>
              <a:rPr lang="en-US" sz="20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20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ReAct</a:t>
            </a:r>
            <a:r>
              <a:rPr lang="en-US" sz="20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Router </a:t>
            </a:r>
            <a:r>
              <a:rPr lang="en-US" sz="20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동작</a:t>
            </a:r>
            <a:endParaRPr lang="en-US" sz="2000" dirty="0">
              <a:solidFill>
                <a:srgbClr val="475569"/>
              </a:solidFill>
              <a:latin typeface="Pretendard"/>
              <a:ea typeface="Pretendard"/>
              <a:cs typeface="Pretendard"/>
              <a:sym typeface="Pretendar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665046" y="5505450"/>
            <a:ext cx="3211782" cy="1114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2000" b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4개 MCP tool</a:t>
            </a:r>
          </a:p>
          <a:p>
            <a:pPr algn="l">
              <a:lnSpc>
                <a:spcPts val="2249"/>
              </a:lnSpc>
            </a:pPr>
            <a:endParaRPr lang="en-US" sz="2000" b="1">
              <a:solidFill>
                <a:srgbClr val="0F172A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  <a:p>
            <a:pPr algn="l">
              <a:lnSpc>
                <a:spcPts val="2248"/>
              </a:lnSpc>
            </a:pPr>
            <a:r>
              <a:rPr lang="en-US" sz="200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도구 분산 처리</a:t>
            </a:r>
          </a:p>
          <a:p>
            <a:pPr algn="l">
              <a:lnSpc>
                <a:spcPts val="2249"/>
              </a:lnSpc>
            </a:pPr>
            <a:r>
              <a:rPr lang="en-US" sz="200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(RAG, DB, 법령, 그래프)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933218" y="5519738"/>
            <a:ext cx="3183207" cy="838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2000" b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gpt-5.4-mini</a:t>
            </a:r>
          </a:p>
          <a:p>
            <a:pPr algn="l">
              <a:lnSpc>
                <a:spcPts val="2249"/>
              </a:lnSpc>
            </a:pPr>
            <a:endParaRPr lang="en-US" sz="2000" b="1">
              <a:solidFill>
                <a:srgbClr val="0F172A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  <a:p>
            <a:pPr algn="l">
              <a:lnSpc>
                <a:spcPts val="2249"/>
              </a:lnSpc>
            </a:pPr>
            <a:r>
              <a:rPr lang="en-US" sz="200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추천 이름  + 면책 조항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144000" y="1964759"/>
            <a:ext cx="6210300" cy="1902695"/>
            <a:chOff x="0" y="0"/>
            <a:chExt cx="12801600" cy="2536927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2801600" cy="2536952"/>
            </a:xfrm>
            <a:custGeom>
              <a:avLst/>
              <a:gdLst/>
              <a:ahLst/>
              <a:cxnLst/>
              <a:rect l="l" t="t" r="r" b="b"/>
              <a:pathLst>
                <a:path w="12801600" h="2536952">
                  <a:moveTo>
                    <a:pt x="0" y="0"/>
                  </a:moveTo>
                  <a:lnTo>
                    <a:pt x="12801600" y="0"/>
                  </a:lnTo>
                  <a:lnTo>
                    <a:pt x="12801600" y="2536952"/>
                  </a:lnTo>
                  <a:lnTo>
                    <a:pt x="0" y="2536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62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0" y="4034209"/>
            <a:ext cx="6210300" cy="2222602"/>
            <a:chOff x="0" y="0"/>
            <a:chExt cx="12801600" cy="2963469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2801600" cy="2963418"/>
            </a:xfrm>
            <a:custGeom>
              <a:avLst/>
              <a:gdLst/>
              <a:ahLst/>
              <a:cxnLst/>
              <a:rect l="l" t="t" r="r" b="b"/>
              <a:pathLst>
                <a:path w="12801600" h="2963418">
                  <a:moveTo>
                    <a:pt x="0" y="0"/>
                  </a:moveTo>
                  <a:lnTo>
                    <a:pt x="12801600" y="0"/>
                  </a:lnTo>
                  <a:lnTo>
                    <a:pt x="12801600" y="2963418"/>
                  </a:lnTo>
                  <a:lnTo>
                    <a:pt x="0" y="2963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28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53868" y="6471123"/>
            <a:ext cx="6190564" cy="2222602"/>
            <a:chOff x="0" y="0"/>
            <a:chExt cx="12801600" cy="2963469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2801600" cy="2963418"/>
            </a:xfrm>
            <a:custGeom>
              <a:avLst/>
              <a:gdLst/>
              <a:ahLst/>
              <a:cxnLst/>
              <a:rect l="l" t="t" r="r" b="b"/>
              <a:pathLst>
                <a:path w="12801600" h="2963418">
                  <a:moveTo>
                    <a:pt x="0" y="0"/>
                  </a:moveTo>
                  <a:lnTo>
                    <a:pt x="12801600" y="0"/>
                  </a:lnTo>
                  <a:lnTo>
                    <a:pt x="12801600" y="2963418"/>
                  </a:lnTo>
                  <a:lnTo>
                    <a:pt x="0" y="2963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92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57250" y="714375"/>
            <a:ext cx="16573500" cy="631327"/>
            <a:chOff x="0" y="0"/>
            <a:chExt cx="22098000" cy="8417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98000" cy="841770"/>
            </a:xfrm>
            <a:custGeom>
              <a:avLst/>
              <a:gdLst/>
              <a:ahLst/>
              <a:cxnLst/>
              <a:rect l="l" t="t" r="r" b="b"/>
              <a:pathLst>
                <a:path w="22098000" h="841770">
                  <a:moveTo>
                    <a:pt x="0" y="0"/>
                  </a:moveTo>
                  <a:lnTo>
                    <a:pt x="22098000" y="0"/>
                  </a:lnTo>
                  <a:lnTo>
                    <a:pt x="22098000" y="841770"/>
                  </a:lnTo>
                  <a:lnTo>
                    <a:pt x="0" y="84177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461517" b="-46151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22098000" cy="832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D4ED8"/>
                  </a:solidFill>
                  <a:latin typeface="Pretendard"/>
                  <a:ea typeface="Pretendard"/>
                  <a:cs typeface="Pretendard"/>
                  <a:sym typeface="Pretendard"/>
                </a:rPr>
                <a:t>[SOLUTION]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881160" y="581025"/>
            <a:ext cx="2605240" cy="710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ReAct</a:t>
            </a:r>
            <a:r>
              <a:rPr 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루프</a:t>
            </a:r>
            <a:endParaRPr lang="en-US" sz="3825" b="1" dirty="0">
              <a:solidFill>
                <a:srgbClr val="0F172A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533079" y="2212477"/>
            <a:ext cx="5960780" cy="372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025" b="1">
                <a:solidFill>
                  <a:srgbClr val="10B981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반복 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84279" y="2613346"/>
            <a:ext cx="5729742" cy="334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575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get_surname_strokes("최")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84279" y="3014215"/>
            <a:ext cx="5729742" cy="3515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575">
                <a:solidFill>
                  <a:srgbClr val="0F172A"/>
                </a:solidFill>
                <a:latin typeface="Pretendard"/>
                <a:ea typeface="Pretendard"/>
                <a:cs typeface="Pretendard"/>
                <a:sym typeface="Pretendard"/>
              </a:rPr>
              <a:t>→ 결과: 성씨 획수 = 11회 확인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33079" y="4329484"/>
            <a:ext cx="5960780" cy="372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025" b="1" dirty="0" err="1">
                <a:solidFill>
                  <a:srgbClr val="8B5CF6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반복</a:t>
            </a:r>
            <a:r>
              <a:rPr lang="en-US" sz="2025" b="1" dirty="0">
                <a:solidFill>
                  <a:srgbClr val="8B5CF6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②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84279" y="4854178"/>
            <a:ext cx="5729742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62"/>
              </a:lnSpc>
            </a:pPr>
            <a:r>
              <a:rPr lang="en-US" sz="1575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find_lucky_strokes</a:t>
            </a:r>
            <a:r>
              <a:rPr lang="en-US" sz="1575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(6)</a:t>
            </a:r>
          </a:p>
          <a:p>
            <a:pPr algn="l">
              <a:lnSpc>
                <a:spcPts val="1762"/>
              </a:lnSpc>
            </a:pPr>
            <a:r>
              <a:rPr lang="en-US" sz="1575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575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recommend_hanja_by_ohaeng</a:t>
            </a:r>
            <a:r>
              <a:rPr lang="en-US" sz="1575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("화")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84279" y="5451129"/>
            <a:ext cx="5729742" cy="339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575">
                <a:solidFill>
                  <a:srgbClr val="0F172A"/>
                </a:solidFill>
                <a:latin typeface="Pretendard"/>
                <a:ea typeface="Pretendard"/>
                <a:cs typeface="Pretendard"/>
                <a:sym typeface="Pretendard"/>
              </a:rPr>
              <a:t>→ 결과: 7+9획 길함/火오행 한자 목록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42551" y="6766398"/>
            <a:ext cx="5941836" cy="372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025" b="1">
                <a:solidFill>
                  <a:srgbClr val="F59E0B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반복 ③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93384" y="7291092"/>
            <a:ext cx="5711532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62"/>
              </a:lnSpc>
            </a:pPr>
            <a:r>
              <a:rPr lang="en-US" sz="1575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check_person_name_hanja()</a:t>
            </a:r>
          </a:p>
          <a:p>
            <a:pPr algn="l">
              <a:lnSpc>
                <a:spcPts val="1762"/>
              </a:lnSpc>
            </a:pPr>
            <a:r>
              <a:rPr lang="en-US" sz="1575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search_law("인명용한자")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93384" y="7888034"/>
            <a:ext cx="5711532" cy="339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575">
                <a:solidFill>
                  <a:srgbClr val="0F172A"/>
                </a:solidFill>
                <a:latin typeface="Pretendard"/>
                <a:ea typeface="Pretendard"/>
                <a:cs typeface="Pretendard"/>
                <a:sym typeface="Pretendard"/>
              </a:rPr>
              <a:t>→ 결과: 등록 가능 확인 → 최종 답변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243987" y="7487598"/>
            <a:ext cx="7061813" cy="1139876"/>
            <a:chOff x="0" y="0"/>
            <a:chExt cx="9415751" cy="1519834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9415751" cy="1519834"/>
              <a:chOff x="0" y="0"/>
              <a:chExt cx="9415751" cy="1519834"/>
            </a:xfrm>
          </p:grpSpPr>
          <p:sp>
            <p:nvSpPr>
              <p:cNvPr id="25" name="Freeform 25" descr="image.png"/>
              <p:cNvSpPr/>
              <p:nvPr/>
            </p:nvSpPr>
            <p:spPr>
              <a:xfrm>
                <a:off x="0" y="0"/>
                <a:ext cx="9415751" cy="1519809"/>
              </a:xfrm>
              <a:custGeom>
                <a:avLst/>
                <a:gdLst/>
                <a:ahLst/>
                <a:cxnLst/>
                <a:rect l="l" t="t" r="r" b="b"/>
                <a:pathLst>
                  <a:path w="9415751" h="1519809">
                    <a:moveTo>
                      <a:pt x="0" y="0"/>
                    </a:moveTo>
                    <a:lnTo>
                      <a:pt x="9415751" y="0"/>
                    </a:lnTo>
                    <a:lnTo>
                      <a:pt x="9415751" y="1519809"/>
                    </a:lnTo>
                    <a:lnTo>
                      <a:pt x="0" y="151980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17979" r="-17979" b="-1529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336277" y="171450"/>
              <a:ext cx="8799244" cy="4305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22"/>
                </a:lnSpc>
              </a:pPr>
              <a:r>
                <a:rPr lang="en-US" sz="1575" b="1">
                  <a:solidFill>
                    <a:srgbClr val="1E293B"/>
                  </a:solidFill>
                  <a:latin typeface="Pretendard Bold"/>
                  <a:ea typeface="Pretendard Bold"/>
                  <a:cs typeface="Pretendard Bold"/>
                  <a:sym typeface="Pretendard Bold"/>
                </a:rPr>
                <a:t>ReAct 루프 규칙:</a:t>
              </a:r>
              <a:r>
                <a:rPr lang="en-US" sz="1575">
                  <a:solidFill>
                    <a:srgbClr val="1E293B"/>
                  </a:solidFill>
                  <a:latin typeface="Pretendard"/>
                  <a:ea typeface="Pretendard"/>
                  <a:cs typeface="Pretendard"/>
                  <a:sym typeface="Pretendard"/>
                </a:rPr>
                <a:t> 최대 5회 반복 | 이전 결과 누적 | 자동 재시도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6277" y="693242"/>
              <a:ext cx="8799244" cy="4305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22"/>
                </a:lnSpc>
              </a:pPr>
              <a:r>
                <a:rPr lang="en-US" sz="1575" b="1">
                  <a:solidFill>
                    <a:srgbClr val="475569"/>
                  </a:solidFill>
                  <a:latin typeface="Pretendard Bold"/>
                  <a:ea typeface="Pretendard Bold"/>
                  <a:cs typeface="Pretendard Bold"/>
                  <a:sym typeface="Pretendard Bold"/>
                </a:rPr>
                <a:t>기술 스택:</a:t>
              </a:r>
              <a:r>
                <a:rPr lang="en-US" sz="1575">
                  <a:solidFill>
                    <a:srgbClr val="475569"/>
                  </a:solidFill>
                  <a:latin typeface="Pretendard"/>
                  <a:ea typeface="Pretendard"/>
                  <a:cs typeface="Pretendard"/>
                  <a:sym typeface="Pretendard"/>
                </a:rPr>
                <a:t> gpt-5.4-mini | LangGraph 1.2.4 | FastMCP 3.4.2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141754" y="1196081"/>
            <a:ext cx="5308313" cy="6861445"/>
            <a:chOff x="0" y="0"/>
            <a:chExt cx="8534400" cy="11031436"/>
          </a:xfrm>
        </p:grpSpPr>
        <p:sp>
          <p:nvSpPr>
            <p:cNvPr id="29" name="Freeform 29" descr="image.png"/>
            <p:cNvSpPr/>
            <p:nvPr/>
          </p:nvSpPr>
          <p:spPr>
            <a:xfrm>
              <a:off x="0" y="0"/>
              <a:ext cx="8534400" cy="11031474"/>
            </a:xfrm>
            <a:custGeom>
              <a:avLst/>
              <a:gdLst/>
              <a:ahLst/>
              <a:cxnLst/>
              <a:rect l="l" t="t" r="r" b="b"/>
              <a:pathLst>
                <a:path w="8534400" h="11031474">
                  <a:moveTo>
                    <a:pt x="0" y="0"/>
                  </a:moveTo>
                  <a:lnTo>
                    <a:pt x="8534400" y="0"/>
                  </a:lnTo>
                  <a:lnTo>
                    <a:pt x="8534400" y="11031474"/>
                  </a:lnTo>
                  <a:lnTo>
                    <a:pt x="0" y="11031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15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57250" y="1917202"/>
            <a:ext cx="16573500" cy="6100982"/>
            <a:chOff x="0" y="0"/>
            <a:chExt cx="22098000" cy="8134642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8134604"/>
            </a:xfrm>
            <a:custGeom>
              <a:avLst/>
              <a:gdLst/>
              <a:ahLst/>
              <a:cxnLst/>
              <a:rect l="l" t="t" r="r" b="b"/>
              <a:pathLst>
                <a:path w="22098000" h="8134604">
                  <a:moveTo>
                    <a:pt x="0" y="0"/>
                  </a:moveTo>
                  <a:lnTo>
                    <a:pt x="22098000" y="0"/>
                  </a:lnTo>
                  <a:lnTo>
                    <a:pt x="22098000" y="8134604"/>
                  </a:lnTo>
                  <a:lnTo>
                    <a:pt x="0" y="8134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3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8446818"/>
            <a:ext cx="16573500" cy="1125807"/>
            <a:chOff x="0" y="0"/>
            <a:chExt cx="22098000" cy="1501076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22098000" cy="1501140"/>
            </a:xfrm>
            <a:custGeom>
              <a:avLst/>
              <a:gdLst/>
              <a:ahLst/>
              <a:cxnLst/>
              <a:rect l="l" t="t" r="r" b="b"/>
              <a:pathLst>
                <a:path w="22098000" h="1501140">
                  <a:moveTo>
                    <a:pt x="0" y="0"/>
                  </a:moveTo>
                  <a:lnTo>
                    <a:pt x="22098000" y="0"/>
                  </a:lnTo>
                  <a:lnTo>
                    <a:pt x="22098000" y="1501140"/>
                  </a:lnTo>
                  <a:lnTo>
                    <a:pt x="0" y="1501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25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7250" y="714375"/>
            <a:ext cx="16573500" cy="631327"/>
            <a:chOff x="0" y="0"/>
            <a:chExt cx="22098000" cy="8417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098000" cy="841770"/>
            </a:xfrm>
            <a:custGeom>
              <a:avLst/>
              <a:gdLst/>
              <a:ahLst/>
              <a:cxnLst/>
              <a:rect l="l" t="t" r="r" b="b"/>
              <a:pathLst>
                <a:path w="22098000" h="841770">
                  <a:moveTo>
                    <a:pt x="0" y="0"/>
                  </a:moveTo>
                  <a:lnTo>
                    <a:pt x="22098000" y="0"/>
                  </a:lnTo>
                  <a:lnTo>
                    <a:pt x="22098000" y="841770"/>
                  </a:lnTo>
                  <a:lnTo>
                    <a:pt x="0" y="8417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61517" b="-46151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22098000" cy="832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D4ED8"/>
                  </a:solidFill>
                  <a:latin typeface="Pretendard"/>
                  <a:ea typeface="Pretendard"/>
                  <a:cs typeface="Pretendard"/>
                  <a:sym typeface="Pretendard"/>
                </a:rPr>
                <a:t>[SOLUTION]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881160" y="581025"/>
            <a:ext cx="3748240" cy="710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모든</a:t>
            </a:r>
            <a:r>
              <a:rPr 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답변에</a:t>
            </a:r>
            <a:r>
              <a:rPr 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출처</a:t>
            </a:r>
            <a:endParaRPr lang="en-US" sz="3825" b="1" dirty="0">
              <a:solidFill>
                <a:srgbClr val="0F172A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00162" y="2274389"/>
            <a:ext cx="5966593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 b="1">
                <a:solidFill>
                  <a:srgbClr val="64748B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&gt; 사용자 질의: "김씨 성, 목오행, 8획 이름 추천해줘"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37164" y="3154413"/>
            <a:ext cx="4200000" cy="357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 b="1">
                <a:solidFill>
                  <a:srgbClr val="2563EB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[한자: 자원오행표 木오행]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08564" y="3565846"/>
            <a:ext cx="4200000" cy="357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 b="1">
                <a:solidFill>
                  <a:srgbClr val="2563EB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[한자: 자원오행표 木오행]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46631" y="4388720"/>
            <a:ext cx="4200000" cy="357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 b="1">
                <a:solidFill>
                  <a:srgbClr val="2563EB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[법령: 인명용한자규칙 제2조]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053058" y="5623027"/>
            <a:ext cx="4500000" cy="357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 b="1">
                <a:solidFill>
                  <a:srgbClr val="2563EB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[논문: 한국인명트렌드분석(2025)]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0162" y="6320209"/>
            <a:ext cx="1568767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DC2626"/>
                </a:solidFill>
                <a:latin typeface="Pretendard"/>
                <a:ea typeface="Pretendard"/>
                <a:cs typeface="Pretendard"/>
                <a:sym typeface="Pretendard"/>
              </a:rPr>
              <a:t>⚠ 본 답변은 참고용이며, 최종 등록 가능 여부는 관할 구청에서 확인하시기 바랍니다.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11773" y="8747674"/>
            <a:ext cx="166708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250" b="1">
                <a:solidFill>
                  <a:srgbClr val="38BDF8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◎ 설계 의도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24908" y="8661130"/>
            <a:ext cx="7311628" cy="554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025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rPr>
              <a:t>출처 태깅 = 신뢰 설계의 핵심 </a:t>
            </a:r>
            <a:r>
              <a:rPr lang="en-US" sz="2025">
                <a:solidFill>
                  <a:srgbClr val="64748B"/>
                </a:solidFill>
                <a:latin typeface="Pretendard"/>
                <a:ea typeface="Pretendard"/>
                <a:cs typeface="Pretendard"/>
                <a:sym typeface="Pretendard"/>
              </a:rPr>
              <a:t>|</a:t>
            </a:r>
            <a:r>
              <a:rPr lang="en-US" sz="2025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rPr>
              <a:t> 면책 조항 = 법적 한계 명확화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57250" y="714375"/>
            <a:ext cx="16573500" cy="631327"/>
            <a:chOff x="0" y="0"/>
            <a:chExt cx="22098000" cy="8417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098000" cy="841770"/>
            </a:xfrm>
            <a:custGeom>
              <a:avLst/>
              <a:gdLst/>
              <a:ahLst/>
              <a:cxnLst/>
              <a:rect l="l" t="t" r="r" b="b"/>
              <a:pathLst>
                <a:path w="22098000" h="841770">
                  <a:moveTo>
                    <a:pt x="0" y="0"/>
                  </a:moveTo>
                  <a:lnTo>
                    <a:pt x="22098000" y="0"/>
                  </a:lnTo>
                  <a:lnTo>
                    <a:pt x="22098000" y="841770"/>
                  </a:lnTo>
                  <a:lnTo>
                    <a:pt x="0" y="8417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1517" b="-46151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22098000" cy="832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D4ED8"/>
                  </a:solidFill>
                  <a:latin typeface="Pretendard"/>
                  <a:ea typeface="Pretendard"/>
                  <a:cs typeface="Pretendard"/>
                  <a:sym typeface="Pretendard"/>
                </a:rPr>
                <a:t>[SOLUTION]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881160" y="581025"/>
            <a:ext cx="5653240" cy="710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시나리오로</a:t>
            </a:r>
            <a:r>
              <a:rPr 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시스템을</a:t>
            </a:r>
            <a:r>
              <a:rPr 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검증</a:t>
            </a:r>
            <a:endParaRPr lang="en-US" sz="3825" b="1" dirty="0">
              <a:solidFill>
                <a:srgbClr val="0F172A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503592"/>
              </p:ext>
            </p:extLst>
          </p:nvPr>
        </p:nvGraphicFramePr>
        <p:xfrm>
          <a:off x="3608273" y="2211251"/>
          <a:ext cx="11071454" cy="5864498"/>
        </p:xfrm>
        <a:graphic>
          <a:graphicData uri="http://schemas.openxmlformats.org/drawingml/2006/table">
            <a:tbl>
              <a:tblPr/>
              <a:tblGrid>
                <a:gridCol w="1316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5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2887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F172A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#</a:t>
                      </a:r>
                      <a:endParaRPr lang="en-US" sz="110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F172A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유형</a:t>
                      </a:r>
                      <a:endParaRPr lang="en-US" sz="1100" dirty="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F172A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질의 요약</a:t>
                      </a:r>
                      <a:endParaRPr lang="en-US" sz="110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887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1</a:t>
                      </a:r>
                      <a:endParaRPr lang="en-US" sz="110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조건 복합 추천</a:t>
                      </a:r>
                      <a:endParaRPr lang="en-US" sz="110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김씨+8획+목오행+밝은 뜻</a:t>
                      </a:r>
                      <a:endParaRPr lang="en-US" sz="110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887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2</a:t>
                      </a:r>
                      <a:endParaRPr lang="en-US" sz="110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오행 상생 분석</a:t>
                      </a:r>
                      <a:endParaRPr lang="en-US" sz="110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木火土 조합 길흉 설명</a:t>
                      </a:r>
                      <a:endParaRPr lang="en-US" sz="110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1402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3</a:t>
                      </a:r>
                      <a:endParaRPr lang="en-US" sz="110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순우리말 이름</a:t>
                      </a:r>
                      <a:endParaRPr lang="en-US" sz="110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순우리말 이름 3개 추천</a:t>
                      </a:r>
                      <a:endParaRPr lang="en-US" sz="1100"/>
                    </a:p>
                    <a:p>
                      <a:pPr algn="l">
                        <a:lnSpc>
                          <a:spcPts val="2160"/>
                        </a:lnSpc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외자 + 성씨 + 성별</a:t>
                      </a:r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887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4</a:t>
                      </a:r>
                      <a:endParaRPr lang="en-US" sz="110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법령 조문 조회</a:t>
                      </a:r>
                      <a:endParaRPr lang="en-US" sz="110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인명용한자 규정 전문</a:t>
                      </a:r>
                      <a:endParaRPr lang="en-US" sz="110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887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5</a:t>
                      </a:r>
                      <a:endParaRPr lang="en-US" sz="110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논문 트렌드</a:t>
                      </a:r>
                      <a:endParaRPr lang="en-US" sz="110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최근 작명 트렌드 (논문 기반)</a:t>
                      </a:r>
                      <a:endParaRPr lang="en-US" sz="110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2887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6</a:t>
                      </a:r>
                      <a:endParaRPr lang="en-US" sz="110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그래프 DB 탐색</a:t>
                      </a:r>
                      <a:endParaRPr lang="en-US" sz="110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목오행 한자 관계망</a:t>
                      </a:r>
                      <a:endParaRPr lang="en-US" sz="110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2887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7</a:t>
                      </a:r>
                      <a:endParaRPr lang="en-US" sz="110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수리 계산</a:t>
                      </a:r>
                      <a:endParaRPr lang="en-US" sz="110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획수(8+7+6) → 81수리 계산</a:t>
                      </a:r>
                      <a:endParaRPr lang="en-US" sz="110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32887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8</a:t>
                      </a:r>
                      <a:endParaRPr lang="en-US" sz="110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통합 추천</a:t>
                      </a:r>
                      <a:endParaRPr lang="en-US" sz="110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dirty="0" err="1">
                          <a:solidFill>
                            <a:srgbClr val="1E293B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최씨+화오행+길함+지혜</a:t>
                      </a:r>
                      <a:endParaRPr lang="en-US" sz="1100" dirty="0"/>
                    </a:p>
                  </a:txBody>
                  <a:tcPr marL="85614" marR="85614" marT="85614" marB="856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876550" y="638175"/>
            <a:ext cx="5715000" cy="655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47"/>
              </a:lnSpc>
              <a:spcBef>
                <a:spcPct val="0"/>
              </a:spcBef>
            </a:pPr>
            <a:r>
              <a:rPr lang="en-US" sz="3819" b="1" u="none" strike="noStrike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GPT Pipeline 평가 결과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57250" y="714375"/>
            <a:ext cx="16573500" cy="631327"/>
            <a:chOff x="0" y="0"/>
            <a:chExt cx="22098000" cy="8417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098000" cy="841771"/>
            </a:xfrm>
            <a:custGeom>
              <a:avLst/>
              <a:gdLst/>
              <a:ahLst/>
              <a:cxnLst/>
              <a:rect l="l" t="t" r="r" b="b"/>
              <a:pathLst>
                <a:path w="22098000" h="841771">
                  <a:moveTo>
                    <a:pt x="0" y="0"/>
                  </a:moveTo>
                  <a:lnTo>
                    <a:pt x="22098000" y="0"/>
                  </a:lnTo>
                  <a:lnTo>
                    <a:pt x="22098000" y="841771"/>
                  </a:lnTo>
                  <a:lnTo>
                    <a:pt x="0" y="8417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61517" b="-46151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22098000" cy="8322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D4ED8"/>
                  </a:solidFill>
                  <a:latin typeface="Pretendard"/>
                  <a:ea typeface="Pretendard"/>
                  <a:cs typeface="Pretendard"/>
                  <a:sym typeface="Pretendard"/>
                </a:rPr>
                <a:t>[SOLUTION]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57250" y="2051558"/>
            <a:ext cx="7620000" cy="42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72"/>
              </a:lnSpc>
              <a:spcBef>
                <a:spcPct val="0"/>
              </a:spcBef>
            </a:pPr>
            <a:r>
              <a:rPr lang="en-US" sz="2480" b="1" u="none" strike="noStrike">
                <a:solidFill>
                  <a:srgbClr val="2563EB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11개 평가 케이스 | 전체 평균 4.09 / 5.0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428750" y="2956433"/>
            <a:ext cx="3429000" cy="1714500"/>
            <a:chOff x="0" y="0"/>
            <a:chExt cx="4572000" cy="2286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572000" cy="2286000"/>
            </a:xfrm>
            <a:custGeom>
              <a:avLst/>
              <a:gdLst/>
              <a:ahLst/>
              <a:cxnLst/>
              <a:rect l="l" t="t" r="r" b="b"/>
              <a:pathLst>
                <a:path w="4572000" h="2286000">
                  <a:moveTo>
                    <a:pt x="228600" y="0"/>
                  </a:moveTo>
                  <a:lnTo>
                    <a:pt x="4343400" y="0"/>
                  </a:lnTo>
                  <a:cubicBezTo>
                    <a:pt x="4469652" y="0"/>
                    <a:pt x="4572000" y="102348"/>
                    <a:pt x="4572000" y="228600"/>
                  </a:cubicBezTo>
                  <a:lnTo>
                    <a:pt x="4572000" y="2057400"/>
                  </a:lnTo>
                  <a:cubicBezTo>
                    <a:pt x="4572000" y="2183652"/>
                    <a:pt x="4469652" y="2286000"/>
                    <a:pt x="43434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5720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28750" y="3112770"/>
            <a:ext cx="3429000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 b="1" u="none" strike="noStrike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4.55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8750" y="4023233"/>
            <a:ext cx="3429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조건 충족도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429250" y="2956433"/>
            <a:ext cx="3429000" cy="1714500"/>
            <a:chOff x="0" y="0"/>
            <a:chExt cx="4572000" cy="2286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572000" cy="2286000"/>
            </a:xfrm>
            <a:custGeom>
              <a:avLst/>
              <a:gdLst/>
              <a:ahLst/>
              <a:cxnLst/>
              <a:rect l="l" t="t" r="r" b="b"/>
              <a:pathLst>
                <a:path w="4572000" h="2286000">
                  <a:moveTo>
                    <a:pt x="228600" y="0"/>
                  </a:moveTo>
                  <a:lnTo>
                    <a:pt x="4343400" y="0"/>
                  </a:lnTo>
                  <a:cubicBezTo>
                    <a:pt x="4469652" y="0"/>
                    <a:pt x="4572000" y="102348"/>
                    <a:pt x="4572000" y="228600"/>
                  </a:cubicBezTo>
                  <a:lnTo>
                    <a:pt x="4572000" y="2057400"/>
                  </a:lnTo>
                  <a:cubicBezTo>
                    <a:pt x="4572000" y="2183652"/>
                    <a:pt x="4469652" y="2286000"/>
                    <a:pt x="43434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5720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429250" y="3112770"/>
            <a:ext cx="3429000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 b="1" u="none" strike="noStrike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3.82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29250" y="4023233"/>
            <a:ext cx="3429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근거성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429750" y="2956433"/>
            <a:ext cx="3429000" cy="1714500"/>
            <a:chOff x="0" y="0"/>
            <a:chExt cx="4572000" cy="2286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572000" cy="2286000"/>
            </a:xfrm>
            <a:custGeom>
              <a:avLst/>
              <a:gdLst/>
              <a:ahLst/>
              <a:cxnLst/>
              <a:rect l="l" t="t" r="r" b="b"/>
              <a:pathLst>
                <a:path w="4572000" h="2286000">
                  <a:moveTo>
                    <a:pt x="228600" y="0"/>
                  </a:moveTo>
                  <a:lnTo>
                    <a:pt x="4343400" y="0"/>
                  </a:lnTo>
                  <a:cubicBezTo>
                    <a:pt x="4469652" y="0"/>
                    <a:pt x="4572000" y="102348"/>
                    <a:pt x="4572000" y="228600"/>
                  </a:cubicBezTo>
                  <a:lnTo>
                    <a:pt x="4572000" y="2057400"/>
                  </a:lnTo>
                  <a:cubicBezTo>
                    <a:pt x="4572000" y="2183652"/>
                    <a:pt x="4469652" y="2286000"/>
                    <a:pt x="43434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45720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429750" y="3112770"/>
            <a:ext cx="3429000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 b="1" u="none" strike="noStrike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3.91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29750" y="4023233"/>
            <a:ext cx="3429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답변 완성도</a:t>
            </a:r>
          </a:p>
        </p:txBody>
      </p:sp>
      <p:sp>
        <p:nvSpPr>
          <p:cNvPr id="25" name="Freeform 25"/>
          <p:cNvSpPr/>
          <p:nvPr/>
        </p:nvSpPr>
        <p:spPr>
          <a:xfrm>
            <a:off x="13430250" y="2956433"/>
            <a:ext cx="3429000" cy="1714500"/>
          </a:xfrm>
          <a:custGeom>
            <a:avLst/>
            <a:gdLst/>
            <a:ahLst/>
            <a:cxnLst/>
            <a:rect l="l" t="t" r="r" b="b"/>
            <a:pathLst>
              <a:path w="4572000" h="2286000">
                <a:moveTo>
                  <a:pt x="228600" y="0"/>
                </a:moveTo>
                <a:lnTo>
                  <a:pt x="4343400" y="0"/>
                </a:lnTo>
                <a:cubicBezTo>
                  <a:pt x="4469652" y="0"/>
                  <a:pt x="4572000" y="102348"/>
                  <a:pt x="4572000" y="228600"/>
                </a:cubicBezTo>
                <a:lnTo>
                  <a:pt x="4572000" y="2057400"/>
                </a:lnTo>
                <a:cubicBezTo>
                  <a:pt x="4572000" y="2183652"/>
                  <a:pt x="4469652" y="2286000"/>
                  <a:pt x="4343400" y="2286000"/>
                </a:cubicBezTo>
                <a:lnTo>
                  <a:pt x="228600" y="2286000"/>
                </a:lnTo>
                <a:cubicBezTo>
                  <a:pt x="102348" y="2286000"/>
                  <a:pt x="0" y="2183652"/>
                  <a:pt x="0" y="205740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</a:schemeClr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13430250" y="2927858"/>
            <a:ext cx="3429000" cy="174307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l">
              <a:lnSpc>
                <a:spcPts val="1679"/>
              </a:lnSpc>
            </a:pP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13430250" y="3112770"/>
            <a:ext cx="3429000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 b="1" u="none" strike="noStrike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4.09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0250" y="4023233"/>
            <a:ext cx="3429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전체 평균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7250" y="5204333"/>
            <a:ext cx="28575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49"/>
              </a:lnSpc>
              <a:spcBef>
                <a:spcPct val="0"/>
              </a:spcBef>
            </a:pPr>
            <a:r>
              <a:rPr lang="en-US" sz="2250" b="1" u="none" strike="noStrike">
                <a:solidFill>
                  <a:srgbClr val="2563EB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주요 강점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7250" y="5604383"/>
            <a:ext cx="7620000" cy="166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9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- 81수리 기반 질의에서 높은 조건 충족도</a:t>
            </a:r>
          </a:p>
          <a:p>
            <a:pPr marL="0" lvl="0" indent="0" algn="l">
              <a:lnSpc>
                <a:spcPts val="3419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- 그래프 DB 기반 한자 관계 질의에서 안정적 Tool 호출</a:t>
            </a:r>
          </a:p>
          <a:p>
            <a:pPr marL="0" lvl="0" indent="0" algn="l">
              <a:lnSpc>
                <a:spcPts val="3419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- 순우리말 이름 추천에서 근거 기반 응답 품질 우수</a:t>
            </a:r>
          </a:p>
          <a:p>
            <a:pPr marL="0" lvl="0" indent="0" algn="l">
              <a:lnSpc>
                <a:spcPts val="3419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- 법령 및 논문 질의는 RAG 기반 근거 제시 가능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25000" y="5204333"/>
            <a:ext cx="28575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49"/>
              </a:lnSpc>
              <a:spcBef>
                <a:spcPct val="0"/>
              </a:spcBef>
            </a:pPr>
            <a:r>
              <a:rPr lang="en-US" sz="2250" b="1" u="none" strike="noStrike">
                <a:solidFill>
                  <a:srgbClr val="DC2626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보완 필요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25000" y="5604383"/>
            <a:ext cx="7620000" cy="1240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9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- 복합 조건(의미+길수+오행) 동시 필터링 로직 필요</a:t>
            </a:r>
          </a:p>
          <a:p>
            <a:pPr marL="0" lvl="0" indent="0" algn="l">
              <a:lnSpc>
                <a:spcPts val="3419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- 검색 결과 부족 시 답변 완성도 저하</a:t>
            </a:r>
          </a:p>
          <a:p>
            <a:pPr marL="0" lvl="0" indent="0" algn="l">
              <a:lnSpc>
                <a:spcPts val="3419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- 추천 후보 최종 검증 강화 필요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429000" y="7842758"/>
            <a:ext cx="11430000" cy="34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27"/>
              </a:lnSpc>
              <a:spcBef>
                <a:spcPct val="0"/>
              </a:spcBef>
            </a:pPr>
            <a:r>
              <a:rPr lang="en-US" sz="2019" b="1" u="none" strike="noStrike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결론: GPT Pipeline은 운영 환경에서 사용 가능한 기본 구조로 판단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57250" y="714375"/>
            <a:ext cx="16573500" cy="631327"/>
            <a:chOff x="0" y="0"/>
            <a:chExt cx="22098000" cy="8417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098000" cy="841770"/>
            </a:xfrm>
            <a:custGeom>
              <a:avLst/>
              <a:gdLst/>
              <a:ahLst/>
              <a:cxnLst/>
              <a:rect l="l" t="t" r="r" b="b"/>
              <a:pathLst>
                <a:path w="22098000" h="841770">
                  <a:moveTo>
                    <a:pt x="0" y="0"/>
                  </a:moveTo>
                  <a:lnTo>
                    <a:pt x="22098000" y="0"/>
                  </a:lnTo>
                  <a:lnTo>
                    <a:pt x="22098000" y="841770"/>
                  </a:lnTo>
                  <a:lnTo>
                    <a:pt x="0" y="8417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1517" b="-46151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22098000" cy="832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D4ED8"/>
                  </a:solidFill>
                  <a:latin typeface="Pretendard"/>
                  <a:ea typeface="Pretendard"/>
                  <a:cs typeface="Pretendard"/>
                  <a:sym typeface="Pretendard"/>
                </a:rPr>
                <a:t>[SOLUTION]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876550" y="571500"/>
            <a:ext cx="5715000" cy="719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46"/>
              </a:lnSpc>
              <a:spcBef>
                <a:spcPct val="0"/>
              </a:spcBef>
            </a:pPr>
            <a:r>
              <a:rPr lang="en-US" sz="3841" b="1" u="none" strike="noStrike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Qwen </a:t>
            </a:r>
            <a:r>
              <a:rPr lang="en-US" sz="3841" b="1" u="none" strike="noStrike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파인튜닝</a:t>
            </a:r>
            <a:r>
              <a:rPr lang="en-US" sz="3841" b="1" u="none" strike="noStrike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3841" b="1" u="none" strike="noStrike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실험</a:t>
            </a:r>
            <a:r>
              <a:rPr lang="en-US" sz="3841" b="1" u="none" strike="noStrike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3841" b="1" u="none" strike="noStrike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결과</a:t>
            </a:r>
            <a:endParaRPr lang="en-US" sz="3841" b="1" u="none" strike="noStrike" dirty="0">
              <a:solidFill>
                <a:srgbClr val="0F172A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57250" y="2019300"/>
            <a:ext cx="16573500" cy="413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62"/>
              </a:lnSpc>
              <a:spcBef>
                <a:spcPct val="0"/>
              </a:spcBef>
            </a:pPr>
            <a:r>
              <a:rPr lang="en-US" sz="2473" b="1" u="none" strike="noStrike" dirty="0">
                <a:solidFill>
                  <a:srgbClr val="DC2626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Qwen3.5-4B </a:t>
            </a:r>
            <a:r>
              <a:rPr lang="en-US" sz="2473" b="1" u="none" strike="noStrike" dirty="0" err="1">
                <a:solidFill>
                  <a:srgbClr val="DC2626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LoRA</a:t>
            </a:r>
            <a:r>
              <a:rPr lang="en-US" sz="2473" b="1" u="none" strike="noStrike" dirty="0">
                <a:solidFill>
                  <a:srgbClr val="DC2626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| RAG </a:t>
            </a:r>
            <a:r>
              <a:rPr lang="en-US" sz="2473" b="1" u="none" strike="noStrike" dirty="0" err="1">
                <a:solidFill>
                  <a:srgbClr val="DC2626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없이</a:t>
            </a:r>
            <a:r>
              <a:rPr lang="en-US" sz="2473" b="1" u="none" strike="noStrike" dirty="0">
                <a:solidFill>
                  <a:srgbClr val="DC2626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2473" b="1" u="none" strike="noStrike" dirty="0" err="1">
                <a:solidFill>
                  <a:srgbClr val="DC2626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단독</a:t>
            </a:r>
            <a:r>
              <a:rPr lang="en-US" sz="2473" b="1" u="none" strike="noStrike" dirty="0">
                <a:solidFill>
                  <a:srgbClr val="DC2626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2473" b="1" u="none" strike="noStrike" dirty="0" err="1">
                <a:solidFill>
                  <a:srgbClr val="DC2626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응답</a:t>
            </a:r>
            <a:r>
              <a:rPr lang="en-US" sz="2473" b="1" u="none" strike="noStrike" dirty="0">
                <a:solidFill>
                  <a:srgbClr val="DC2626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| </a:t>
            </a:r>
            <a:r>
              <a:rPr lang="en-US" sz="2473" b="1" u="none" strike="noStrike" dirty="0" err="1">
                <a:solidFill>
                  <a:srgbClr val="DC2626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전체</a:t>
            </a:r>
            <a:r>
              <a:rPr lang="en-US" sz="2473" b="1" u="none" strike="noStrike" dirty="0">
                <a:solidFill>
                  <a:srgbClr val="DC2626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2473" b="1" u="none" strike="noStrike" dirty="0" err="1">
                <a:solidFill>
                  <a:srgbClr val="DC2626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평균</a:t>
            </a:r>
            <a:r>
              <a:rPr lang="en-US" sz="2473" b="1" u="none" strike="noStrike" dirty="0">
                <a:solidFill>
                  <a:srgbClr val="DC2626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1.63 / 5.0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428750" y="2956779"/>
            <a:ext cx="3429000" cy="1714500"/>
            <a:chOff x="0" y="0"/>
            <a:chExt cx="4572000" cy="2286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572000" cy="2286000"/>
            </a:xfrm>
            <a:custGeom>
              <a:avLst/>
              <a:gdLst/>
              <a:ahLst/>
              <a:cxnLst/>
              <a:rect l="l" t="t" r="r" b="b"/>
              <a:pathLst>
                <a:path w="4572000" h="2286000">
                  <a:moveTo>
                    <a:pt x="228600" y="0"/>
                  </a:moveTo>
                  <a:lnTo>
                    <a:pt x="4343400" y="0"/>
                  </a:lnTo>
                  <a:cubicBezTo>
                    <a:pt x="4469652" y="0"/>
                    <a:pt x="4572000" y="102348"/>
                    <a:pt x="4572000" y="228600"/>
                  </a:cubicBezTo>
                  <a:lnTo>
                    <a:pt x="4572000" y="2057400"/>
                  </a:lnTo>
                  <a:cubicBezTo>
                    <a:pt x="4572000" y="2183652"/>
                    <a:pt x="4469652" y="2286000"/>
                    <a:pt x="43434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2626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5720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28750" y="3113263"/>
            <a:ext cx="3429000" cy="811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47"/>
              </a:lnSpc>
              <a:spcBef>
                <a:spcPct val="0"/>
              </a:spcBef>
            </a:pPr>
            <a:r>
              <a:rPr lang="en-US" sz="4819" b="1" u="none" strike="noStrike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1.20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8750" y="4023579"/>
            <a:ext cx="3429000" cy="29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7"/>
              </a:lnSpc>
              <a:spcBef>
                <a:spcPct val="0"/>
              </a:spcBef>
            </a:pPr>
            <a:r>
              <a:rPr lang="en-US" sz="1819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사실 정확도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429250" y="2956779"/>
            <a:ext cx="3429000" cy="1714500"/>
            <a:chOff x="0" y="0"/>
            <a:chExt cx="4572000" cy="2286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572000" cy="2286000"/>
            </a:xfrm>
            <a:custGeom>
              <a:avLst/>
              <a:gdLst/>
              <a:ahLst/>
              <a:cxnLst/>
              <a:rect l="l" t="t" r="r" b="b"/>
              <a:pathLst>
                <a:path w="4572000" h="2286000">
                  <a:moveTo>
                    <a:pt x="228600" y="0"/>
                  </a:moveTo>
                  <a:lnTo>
                    <a:pt x="4343400" y="0"/>
                  </a:lnTo>
                  <a:cubicBezTo>
                    <a:pt x="4469652" y="0"/>
                    <a:pt x="4572000" y="102348"/>
                    <a:pt x="4572000" y="228600"/>
                  </a:cubicBezTo>
                  <a:lnTo>
                    <a:pt x="4572000" y="2057400"/>
                  </a:lnTo>
                  <a:cubicBezTo>
                    <a:pt x="4572000" y="2183652"/>
                    <a:pt x="4469652" y="2286000"/>
                    <a:pt x="43434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2626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5720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429250" y="3113263"/>
            <a:ext cx="3429000" cy="811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47"/>
              </a:lnSpc>
              <a:spcBef>
                <a:spcPct val="0"/>
              </a:spcBef>
            </a:pPr>
            <a:r>
              <a:rPr lang="en-US" sz="4819" b="1" u="none" strike="noStrike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1.50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29250" y="4023579"/>
            <a:ext cx="3429000" cy="29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7"/>
              </a:lnSpc>
              <a:spcBef>
                <a:spcPct val="0"/>
              </a:spcBef>
            </a:pPr>
            <a:r>
              <a:rPr lang="en-US" sz="1819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근거성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429750" y="2956779"/>
            <a:ext cx="3429000" cy="1714500"/>
            <a:chOff x="0" y="0"/>
            <a:chExt cx="4572000" cy="2286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572000" cy="2286000"/>
            </a:xfrm>
            <a:custGeom>
              <a:avLst/>
              <a:gdLst/>
              <a:ahLst/>
              <a:cxnLst/>
              <a:rect l="l" t="t" r="r" b="b"/>
              <a:pathLst>
                <a:path w="4572000" h="2286000">
                  <a:moveTo>
                    <a:pt x="228600" y="0"/>
                  </a:moveTo>
                  <a:lnTo>
                    <a:pt x="4343400" y="0"/>
                  </a:lnTo>
                  <a:cubicBezTo>
                    <a:pt x="4469652" y="0"/>
                    <a:pt x="4572000" y="102348"/>
                    <a:pt x="4572000" y="228600"/>
                  </a:cubicBezTo>
                  <a:lnTo>
                    <a:pt x="4572000" y="2057400"/>
                  </a:lnTo>
                  <a:cubicBezTo>
                    <a:pt x="4572000" y="2183652"/>
                    <a:pt x="4469652" y="2286000"/>
                    <a:pt x="43434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2626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45720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429750" y="3113263"/>
            <a:ext cx="3429000" cy="811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47"/>
              </a:lnSpc>
              <a:spcBef>
                <a:spcPct val="0"/>
              </a:spcBef>
            </a:pPr>
            <a:r>
              <a:rPr lang="en-US" sz="4819" b="1" u="none" strike="noStrike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2.20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29750" y="4023579"/>
            <a:ext cx="3429000" cy="29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7"/>
              </a:lnSpc>
              <a:spcBef>
                <a:spcPct val="0"/>
              </a:spcBef>
            </a:pPr>
            <a:r>
              <a:rPr lang="en-US" sz="1819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답변 완성도</a:t>
            </a:r>
          </a:p>
        </p:txBody>
      </p:sp>
      <p:sp>
        <p:nvSpPr>
          <p:cNvPr id="25" name="Freeform 25"/>
          <p:cNvSpPr/>
          <p:nvPr/>
        </p:nvSpPr>
        <p:spPr>
          <a:xfrm>
            <a:off x="13430250" y="2956779"/>
            <a:ext cx="3429000" cy="1714500"/>
          </a:xfrm>
          <a:custGeom>
            <a:avLst/>
            <a:gdLst/>
            <a:ahLst/>
            <a:cxnLst/>
            <a:rect l="l" t="t" r="r" b="b"/>
            <a:pathLst>
              <a:path w="4572000" h="2286000">
                <a:moveTo>
                  <a:pt x="228600" y="0"/>
                </a:moveTo>
                <a:lnTo>
                  <a:pt x="4343400" y="0"/>
                </a:lnTo>
                <a:cubicBezTo>
                  <a:pt x="4469652" y="0"/>
                  <a:pt x="4572000" y="102348"/>
                  <a:pt x="4572000" y="228600"/>
                </a:cubicBezTo>
                <a:lnTo>
                  <a:pt x="4572000" y="2057400"/>
                </a:lnTo>
                <a:cubicBezTo>
                  <a:pt x="4572000" y="2183652"/>
                  <a:pt x="4469652" y="2286000"/>
                  <a:pt x="4343400" y="2286000"/>
                </a:cubicBezTo>
                <a:lnTo>
                  <a:pt x="228600" y="2286000"/>
                </a:lnTo>
                <a:cubicBezTo>
                  <a:pt x="102348" y="2286000"/>
                  <a:pt x="0" y="2183652"/>
                  <a:pt x="0" y="205740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>
            <a:srgbClr val="FFFFFF"/>
          </a:solidFill>
          <a:ln w="19050" cap="sq">
            <a:solidFill>
              <a:schemeClr val="accent2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13430250" y="2928204"/>
            <a:ext cx="3429000" cy="174307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l">
              <a:lnSpc>
                <a:spcPts val="1679"/>
              </a:lnSpc>
            </a:pP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13430250" y="3113263"/>
            <a:ext cx="3429000" cy="811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47"/>
              </a:lnSpc>
              <a:spcBef>
                <a:spcPct val="0"/>
              </a:spcBef>
            </a:pPr>
            <a:r>
              <a:rPr lang="en-US" sz="4819" b="1" u="none" strike="noStrike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1.63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0250" y="4023579"/>
            <a:ext cx="3429000" cy="29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7"/>
              </a:lnSpc>
              <a:spcBef>
                <a:spcPct val="0"/>
              </a:spcBef>
            </a:pPr>
            <a:r>
              <a:rPr lang="en-US" sz="1819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전체</a:t>
            </a:r>
            <a:r>
              <a:rPr lang="en-US" sz="1819" u="none" strike="noStrike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19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평균</a:t>
            </a:r>
            <a:endParaRPr lang="en-US" sz="1819" u="none" strike="noStrike" dirty="0">
              <a:solidFill>
                <a:srgbClr val="475569"/>
              </a:solidFill>
              <a:latin typeface="Pretendard"/>
              <a:ea typeface="Pretendard"/>
              <a:cs typeface="Pretendard"/>
              <a:sym typeface="Pretendar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57250" y="5195154"/>
            <a:ext cx="2857500" cy="389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2"/>
              </a:lnSpc>
              <a:spcBef>
                <a:spcPct val="0"/>
              </a:spcBef>
            </a:pPr>
            <a:r>
              <a:rPr lang="en-US" sz="2301" b="1" u="none" strike="noStrike">
                <a:solidFill>
                  <a:srgbClr val="2563EB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실험 개요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7250" y="5614254"/>
            <a:ext cx="7620000" cy="1238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6"/>
              </a:lnSpc>
              <a:spcBef>
                <a:spcPct val="0"/>
              </a:spcBef>
            </a:pPr>
            <a:r>
              <a:rPr lang="en-US" sz="1813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- 모델: Qwen3.5-4B (LoRA/QLoRA 파인튜닝)</a:t>
            </a:r>
          </a:p>
          <a:p>
            <a:pPr marL="0" lvl="0" indent="0" algn="l">
              <a:lnSpc>
                <a:spcPts val="3446"/>
              </a:lnSpc>
              <a:spcBef>
                <a:spcPct val="0"/>
              </a:spcBef>
            </a:pPr>
            <a:r>
              <a:rPr lang="en-US" sz="1813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- 학습 데이터: finetune_data.json 311건</a:t>
            </a:r>
          </a:p>
          <a:p>
            <a:pPr marL="0" lvl="0" indent="0" algn="l">
              <a:lnSpc>
                <a:spcPts val="3446"/>
              </a:lnSpc>
              <a:spcBef>
                <a:spcPct val="0"/>
              </a:spcBef>
            </a:pPr>
            <a:r>
              <a:rPr lang="en-US" sz="1813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- 평가: 11개 케이스 중 유효 10건 (타임아웃 1건)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25000" y="5195154"/>
            <a:ext cx="2857500" cy="389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2"/>
              </a:lnSpc>
              <a:spcBef>
                <a:spcPct val="0"/>
              </a:spcBef>
            </a:pPr>
            <a:r>
              <a:rPr lang="en-US" sz="2301" b="1" u="none" strike="noStrike">
                <a:solidFill>
                  <a:srgbClr val="DC2626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확인된 한계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25000" y="5604729"/>
            <a:ext cx="7620000" cy="1667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6"/>
              </a:lnSpc>
              <a:spcBef>
                <a:spcPct val="0"/>
              </a:spcBef>
            </a:pPr>
            <a:r>
              <a:rPr lang="en-US" sz="1813" u="none" strike="noStrike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- </a:t>
            </a:r>
            <a:r>
              <a:rPr lang="en-US" sz="1813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수리</a:t>
            </a:r>
            <a:r>
              <a:rPr lang="en-US" sz="1813" u="none" strike="noStrike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13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계산</a:t>
            </a:r>
            <a:r>
              <a:rPr lang="en-US" sz="1813" u="none" strike="noStrike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/</a:t>
            </a:r>
            <a:r>
              <a:rPr lang="en-US" sz="1813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길흉</a:t>
            </a:r>
            <a:r>
              <a:rPr lang="en-US" sz="1813" u="none" strike="noStrike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13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판단</a:t>
            </a:r>
            <a:r>
              <a:rPr lang="en-US" sz="1813" u="none" strike="noStrike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13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불안정</a:t>
            </a:r>
            <a:endParaRPr lang="en-US" sz="1813" u="none" strike="noStrike" dirty="0">
              <a:solidFill>
                <a:srgbClr val="475569"/>
              </a:solidFill>
              <a:latin typeface="Pretendard"/>
              <a:ea typeface="Pretendard"/>
              <a:cs typeface="Pretendard"/>
              <a:sym typeface="Pretendard"/>
            </a:endParaRPr>
          </a:p>
          <a:p>
            <a:pPr marL="0" lvl="0" indent="0" algn="l">
              <a:lnSpc>
                <a:spcPts val="3446"/>
              </a:lnSpc>
              <a:spcBef>
                <a:spcPct val="0"/>
              </a:spcBef>
            </a:pPr>
            <a:r>
              <a:rPr lang="en-US" sz="1813" u="none" strike="noStrike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- </a:t>
            </a:r>
            <a:r>
              <a:rPr lang="en-US" sz="1813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오행</a:t>
            </a:r>
            <a:r>
              <a:rPr lang="en-US" sz="1813" u="none" strike="noStrike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13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관계</a:t>
            </a:r>
            <a:r>
              <a:rPr lang="en-US" sz="1813" u="none" strike="noStrike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, </a:t>
            </a:r>
            <a:r>
              <a:rPr lang="en-US" sz="1813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한자</a:t>
            </a:r>
            <a:r>
              <a:rPr lang="en-US" sz="1813" u="none" strike="noStrike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13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의미</a:t>
            </a:r>
            <a:r>
              <a:rPr lang="en-US" sz="1813" u="none" strike="noStrike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13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오류</a:t>
            </a:r>
            <a:r>
              <a:rPr lang="en-US" sz="1813" u="none" strike="noStrike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13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발생</a:t>
            </a:r>
            <a:endParaRPr lang="en-US" sz="1813" u="none" strike="noStrike" dirty="0">
              <a:solidFill>
                <a:srgbClr val="475569"/>
              </a:solidFill>
              <a:latin typeface="Pretendard"/>
              <a:ea typeface="Pretendard"/>
              <a:cs typeface="Pretendard"/>
              <a:sym typeface="Pretendard"/>
            </a:endParaRPr>
          </a:p>
          <a:p>
            <a:pPr marL="0" lvl="0" indent="0" algn="l">
              <a:lnSpc>
                <a:spcPts val="3446"/>
              </a:lnSpc>
              <a:spcBef>
                <a:spcPct val="0"/>
              </a:spcBef>
            </a:pPr>
            <a:r>
              <a:rPr lang="en-US" sz="1813" u="none" strike="noStrike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- </a:t>
            </a:r>
            <a:r>
              <a:rPr lang="en-US" sz="1813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법령</a:t>
            </a:r>
            <a:r>
              <a:rPr lang="en-US" sz="1813" u="none" strike="noStrike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/</a:t>
            </a:r>
            <a:r>
              <a:rPr lang="en-US" sz="1813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논문</a:t>
            </a:r>
            <a:r>
              <a:rPr lang="en-US" sz="1813" u="none" strike="noStrike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13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근거를</a:t>
            </a:r>
            <a:r>
              <a:rPr lang="en-US" sz="1813" u="none" strike="noStrike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13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실제</a:t>
            </a:r>
            <a:r>
              <a:rPr lang="en-US" sz="1813" u="none" strike="noStrike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13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자료</a:t>
            </a:r>
            <a:r>
              <a:rPr lang="en-US" sz="1813" u="none" strike="noStrike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13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기반으로</a:t>
            </a:r>
            <a:r>
              <a:rPr lang="en-US" sz="1813" u="none" strike="noStrike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13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제시</a:t>
            </a:r>
            <a:r>
              <a:rPr lang="en-US" sz="1813" u="none" strike="noStrike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13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불가</a:t>
            </a:r>
            <a:endParaRPr lang="en-US" sz="1813" u="none" strike="noStrike" dirty="0">
              <a:solidFill>
                <a:srgbClr val="475569"/>
              </a:solidFill>
              <a:latin typeface="Pretendard"/>
              <a:ea typeface="Pretendard"/>
              <a:cs typeface="Pretendard"/>
              <a:sym typeface="Pretendard"/>
            </a:endParaRPr>
          </a:p>
          <a:p>
            <a:pPr marL="0" lvl="0" indent="0" algn="l">
              <a:lnSpc>
                <a:spcPts val="3446"/>
              </a:lnSpc>
              <a:spcBef>
                <a:spcPct val="0"/>
              </a:spcBef>
            </a:pPr>
            <a:r>
              <a:rPr lang="en-US" sz="1813" u="none" strike="noStrike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- </a:t>
            </a:r>
            <a:r>
              <a:rPr lang="en-US" sz="1813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복합</a:t>
            </a:r>
            <a:r>
              <a:rPr lang="en-US" sz="1813" u="none" strike="noStrike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13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조건</a:t>
            </a:r>
            <a:r>
              <a:rPr lang="en-US" sz="1813" u="none" strike="noStrike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13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질의에서</a:t>
            </a:r>
            <a:r>
              <a:rPr lang="en-US" sz="1813" u="none" strike="noStrike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13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타임아웃</a:t>
            </a:r>
            <a:r>
              <a:rPr lang="en-US" sz="1813" u="none" strike="noStrike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13" u="none" strike="noStrike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발생</a:t>
            </a:r>
            <a:endParaRPr lang="en-US" sz="1813" u="none" strike="noStrike" dirty="0">
              <a:solidFill>
                <a:srgbClr val="475569"/>
              </a:solidFill>
              <a:latin typeface="Pretendard"/>
              <a:ea typeface="Pretendard"/>
              <a:cs typeface="Pretendard"/>
              <a:sym typeface="Pretendar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3429000" y="7843104"/>
            <a:ext cx="11430000" cy="33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47"/>
              </a:lnSpc>
              <a:spcBef>
                <a:spcPct val="0"/>
              </a:spcBef>
            </a:pPr>
            <a:r>
              <a:rPr lang="en-US" sz="2033" b="1" u="none" strike="noStrike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결론</a:t>
            </a:r>
            <a:r>
              <a:rPr lang="en-US" sz="2033" b="1" u="none" strike="noStrike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: </a:t>
            </a:r>
            <a:r>
              <a:rPr lang="en-US" sz="2033" b="1" u="none" strike="noStrike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단독</a:t>
            </a:r>
            <a:r>
              <a:rPr lang="en-US" sz="2033" b="1" u="none" strike="noStrike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2033" b="1" u="none" strike="noStrike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운영</a:t>
            </a:r>
            <a:r>
              <a:rPr lang="en-US" sz="2033" b="1" u="none" strike="noStrike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2033" b="1" u="none" strike="noStrike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부적합</a:t>
            </a:r>
            <a:r>
              <a:rPr lang="en-US" sz="2033" b="1" u="none" strike="noStrike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→ </a:t>
            </a:r>
            <a:r>
              <a:rPr lang="en-US" sz="2033" b="1" u="none" strike="noStrike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향후</a:t>
            </a:r>
            <a:r>
              <a:rPr lang="en-US" sz="2033" b="1" u="none" strike="noStrike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ko-KR" altLang="en-US" sz="2033" b="1" u="none" strike="noStrike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파인튜닝</a:t>
            </a:r>
            <a:r>
              <a:rPr lang="ko-KR" altLang="en-US" sz="2033" b="1" u="none" strike="noStrike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전략 변경 및 </a:t>
            </a:r>
            <a:r>
              <a:rPr lang="en-US" sz="2033" b="1" u="none" strike="noStrike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Hybrid </a:t>
            </a:r>
            <a:r>
              <a:rPr lang="en-US" sz="2033" b="1" u="none" strike="noStrike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구조의</a:t>
            </a:r>
            <a:r>
              <a:rPr lang="en-US" sz="2033" b="1" u="none" strike="noStrike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2033" b="1" u="none" strike="noStrike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보조</a:t>
            </a:r>
            <a:r>
              <a:rPr lang="en-US" sz="2033" b="1" u="none" strike="noStrike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2033" b="1" u="none" strike="noStrike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모델</a:t>
            </a:r>
            <a:r>
              <a:rPr lang="en-US" sz="2033" b="1" u="none" strike="noStrike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2033" b="1" u="none" strike="noStrike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후보</a:t>
            </a:r>
            <a:endParaRPr lang="en-US" sz="2033" b="1" u="none" strike="noStrike" dirty="0">
              <a:solidFill>
                <a:srgbClr val="0F172A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857250" y="2013458"/>
            <a:ext cx="7620000" cy="42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72"/>
              </a:lnSpc>
              <a:spcBef>
                <a:spcPct val="0"/>
              </a:spcBef>
            </a:pPr>
            <a:r>
              <a:rPr lang="en-US" sz="2480" b="1" u="none" strike="noStrike">
                <a:solidFill>
                  <a:srgbClr val="2563EB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동일 11개 케이스 평가 | 운영 모델 선정 근거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428750" y="2918333"/>
            <a:ext cx="7143750" cy="571500"/>
            <a:chOff x="0" y="0"/>
            <a:chExt cx="9525000" cy="762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525000" cy="762000"/>
            </a:xfrm>
            <a:custGeom>
              <a:avLst/>
              <a:gdLst/>
              <a:ahLst/>
              <a:cxnLst/>
              <a:rect l="l" t="t" r="r" b="b"/>
              <a:pathLst>
                <a:path w="9525000" h="762000">
                  <a:moveTo>
                    <a:pt x="76200" y="0"/>
                  </a:moveTo>
                  <a:lnTo>
                    <a:pt x="9448800" y="0"/>
                  </a:lnTo>
                  <a:cubicBezTo>
                    <a:pt x="9490884" y="0"/>
                    <a:pt x="9525000" y="34116"/>
                    <a:pt x="9525000" y="76200"/>
                  </a:cubicBezTo>
                  <a:lnTo>
                    <a:pt x="9525000" y="685800"/>
                  </a:lnTo>
                  <a:cubicBezTo>
                    <a:pt x="9525000" y="727884"/>
                    <a:pt x="9490884" y="762000"/>
                    <a:pt x="94488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563EB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525000" cy="80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28750" y="2965958"/>
            <a:ext cx="7143750" cy="42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72"/>
              </a:lnSpc>
              <a:spcBef>
                <a:spcPct val="0"/>
              </a:spcBef>
            </a:pPr>
            <a:r>
              <a:rPr lang="en-US" sz="2480" b="1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GPT Pipeline (4.09)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525000" y="2918333"/>
            <a:ext cx="7143750" cy="571500"/>
            <a:chOff x="0" y="0"/>
            <a:chExt cx="9525000" cy="762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525000" cy="762000"/>
            </a:xfrm>
            <a:custGeom>
              <a:avLst/>
              <a:gdLst/>
              <a:ahLst/>
              <a:cxnLst/>
              <a:rect l="l" t="t" r="r" b="b"/>
              <a:pathLst>
                <a:path w="9525000" h="762000">
                  <a:moveTo>
                    <a:pt x="76200" y="0"/>
                  </a:moveTo>
                  <a:lnTo>
                    <a:pt x="9448800" y="0"/>
                  </a:lnTo>
                  <a:cubicBezTo>
                    <a:pt x="9490884" y="0"/>
                    <a:pt x="9525000" y="34116"/>
                    <a:pt x="9525000" y="76200"/>
                  </a:cubicBezTo>
                  <a:lnTo>
                    <a:pt x="9525000" y="685800"/>
                  </a:lnTo>
                  <a:cubicBezTo>
                    <a:pt x="9525000" y="727884"/>
                    <a:pt x="9490884" y="762000"/>
                    <a:pt x="94488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DC26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9525000" cy="80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525000" y="2965958"/>
            <a:ext cx="7143750" cy="42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72"/>
              </a:lnSpc>
              <a:spcBef>
                <a:spcPct val="0"/>
              </a:spcBef>
            </a:pPr>
            <a:r>
              <a:rPr lang="en-US" sz="2480" b="1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Qwen 파인튜닝 (1.63)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428750" y="3556508"/>
            <a:ext cx="7143750" cy="2886075"/>
            <a:chOff x="0" y="-38100"/>
            <a:chExt cx="9525000" cy="38481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525000" cy="3810000"/>
            </a:xfrm>
            <a:custGeom>
              <a:avLst/>
              <a:gdLst/>
              <a:ahLst/>
              <a:cxnLst/>
              <a:rect l="l" t="t" r="r" b="b"/>
              <a:pathLst>
                <a:path w="9525000" h="3810000">
                  <a:moveTo>
                    <a:pt x="381000" y="0"/>
                  </a:moveTo>
                  <a:lnTo>
                    <a:pt x="9144000" y="0"/>
                  </a:lnTo>
                  <a:cubicBezTo>
                    <a:pt x="9354420" y="0"/>
                    <a:pt x="9525000" y="170580"/>
                    <a:pt x="9525000" y="381000"/>
                  </a:cubicBezTo>
                  <a:lnTo>
                    <a:pt x="9525000" y="3429000"/>
                  </a:lnTo>
                  <a:cubicBezTo>
                    <a:pt x="9525000" y="3639420"/>
                    <a:pt x="9354420" y="3810000"/>
                    <a:pt x="9144000" y="3810000"/>
                  </a:cubicBezTo>
                  <a:lnTo>
                    <a:pt x="381000" y="3810000"/>
                  </a:lnTo>
                  <a:cubicBezTo>
                    <a:pt x="170580" y="3810000"/>
                    <a:pt x="0" y="3639420"/>
                    <a:pt x="0" y="3429000"/>
                  </a:cubicBezTo>
                  <a:lnTo>
                    <a:pt x="0" y="381000"/>
                  </a:ln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9525000" cy="384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714500" y="3642233"/>
            <a:ext cx="6572250" cy="269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구조: RAG + Tool + LangGraph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모델: gpt-5.4-mini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성공 처리: 11 / 11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강점: 근거 기반 검색, 계산, Tool 조합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한계: 복합 조건 추가 검증 필요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운영 적합성: 높음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525000" y="3585083"/>
            <a:ext cx="7143750" cy="2857500"/>
            <a:chOff x="0" y="0"/>
            <a:chExt cx="9525000" cy="3810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525000" cy="3810000"/>
            </a:xfrm>
            <a:custGeom>
              <a:avLst/>
              <a:gdLst/>
              <a:ahLst/>
              <a:cxnLst/>
              <a:rect l="l" t="t" r="r" b="b"/>
              <a:pathLst>
                <a:path w="9525000" h="3810000">
                  <a:moveTo>
                    <a:pt x="381000" y="0"/>
                  </a:moveTo>
                  <a:lnTo>
                    <a:pt x="9144000" y="0"/>
                  </a:lnTo>
                  <a:cubicBezTo>
                    <a:pt x="9354420" y="0"/>
                    <a:pt x="9525000" y="170580"/>
                    <a:pt x="9525000" y="381000"/>
                  </a:cubicBezTo>
                  <a:lnTo>
                    <a:pt x="9525000" y="3429000"/>
                  </a:lnTo>
                  <a:cubicBezTo>
                    <a:pt x="9525000" y="3639420"/>
                    <a:pt x="9354420" y="3810000"/>
                    <a:pt x="9144000" y="3810000"/>
                  </a:cubicBezTo>
                  <a:lnTo>
                    <a:pt x="381000" y="3810000"/>
                  </a:lnTo>
                  <a:cubicBezTo>
                    <a:pt x="170580" y="3810000"/>
                    <a:pt x="0" y="3639420"/>
                    <a:pt x="0" y="3429000"/>
                  </a:cubicBezTo>
                  <a:lnTo>
                    <a:pt x="0" y="381000"/>
                  </a:ln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2626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9525000" cy="384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810750" y="3642233"/>
            <a:ext cx="6572250" cy="269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구조: 파인튜닝 모델 단독 응답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모델: Qwen3.5-4B LoRA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성공 처리: 10 / 11 (타임아웃 1건)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강점: 응답 형식 학습, 경량화 가능성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한계: 사실성, 계산, 근거성 부족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운영 적합성: 낮음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29000" y="7233158"/>
            <a:ext cx="11430000" cy="34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27"/>
              </a:lnSpc>
              <a:spcBef>
                <a:spcPct val="0"/>
              </a:spcBef>
            </a:pPr>
            <a:r>
              <a:rPr lang="en-US" sz="2019" b="1" u="none" strike="noStrike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결론: 운영 기준은 GPT Pipeline, Qwen은 향후 Hybrid 구조 보조 모델로 확장</a:t>
            </a:r>
          </a:p>
        </p:txBody>
      </p:sp>
      <p:sp>
        <p:nvSpPr>
          <p:cNvPr id="31" name="TextBox 4">
            <a:extLst>
              <a:ext uri="{FF2B5EF4-FFF2-40B4-BE49-F238E27FC236}">
                <a16:creationId xmlns:a16="http://schemas.microsoft.com/office/drawing/2014/main" id="{FC51EEAC-5754-F264-0900-B539F291C027}"/>
              </a:ext>
            </a:extLst>
          </p:cNvPr>
          <p:cNvSpPr txBox="1"/>
          <p:nvPr/>
        </p:nvSpPr>
        <p:spPr>
          <a:xfrm>
            <a:off x="2876550" y="571500"/>
            <a:ext cx="9200000" cy="695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5877"/>
              </a:lnSpc>
              <a:spcBef>
                <a:spcPct val="0"/>
              </a:spcBef>
            </a:pPr>
            <a:r>
              <a:rPr lang="en-US" altLang="ko-KR" sz="4000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GPT Pipeline vs Qwen </a:t>
            </a:r>
            <a:r>
              <a:rPr lang="en-US" altLang="ko-KR" sz="4000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비교</a:t>
            </a:r>
            <a:endParaRPr lang="en-US" altLang="ko-KR" sz="4000" b="1" dirty="0">
              <a:solidFill>
                <a:srgbClr val="0F172A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sp>
        <p:nvSpPr>
          <p:cNvPr id="34" name="TextBox 7">
            <a:extLst>
              <a:ext uri="{FF2B5EF4-FFF2-40B4-BE49-F238E27FC236}">
                <a16:creationId xmlns:a16="http://schemas.microsoft.com/office/drawing/2014/main" id="{D215089F-F1FC-FFB3-435B-5BFC7A11E9C2}"/>
              </a:ext>
            </a:extLst>
          </p:cNvPr>
          <p:cNvSpPr txBox="1"/>
          <p:nvPr/>
        </p:nvSpPr>
        <p:spPr>
          <a:xfrm>
            <a:off x="857250" y="721519"/>
            <a:ext cx="16573500" cy="62418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D4ED8"/>
                </a:solidFill>
                <a:latin typeface="Pretendard"/>
                <a:ea typeface="Pretendard"/>
                <a:cs typeface="Pretendard"/>
                <a:sym typeface="Pretendard"/>
              </a:rPr>
              <a:t>[SOLUTION]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57250" y="1981052"/>
            <a:ext cx="8001000" cy="7655423"/>
            <a:chOff x="0" y="0"/>
            <a:chExt cx="10668000" cy="10207231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668000" cy="10207244"/>
            </a:xfrm>
            <a:custGeom>
              <a:avLst/>
              <a:gdLst/>
              <a:ahLst/>
              <a:cxnLst/>
              <a:rect l="l" t="t" r="r" b="b"/>
              <a:pathLst>
                <a:path w="10668000" h="10207244">
                  <a:moveTo>
                    <a:pt x="0" y="0"/>
                  </a:moveTo>
                  <a:lnTo>
                    <a:pt x="10668000" y="0"/>
                  </a:lnTo>
                  <a:lnTo>
                    <a:pt x="10668000" y="10207244"/>
                  </a:lnTo>
                  <a:lnTo>
                    <a:pt x="0" y="10207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429750" y="1917202"/>
            <a:ext cx="8001000" cy="7655423"/>
            <a:chOff x="0" y="0"/>
            <a:chExt cx="10668000" cy="10207231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668000" cy="10207244"/>
            </a:xfrm>
            <a:custGeom>
              <a:avLst/>
              <a:gdLst/>
              <a:ahLst/>
              <a:cxnLst/>
              <a:rect l="l" t="t" r="r" b="b"/>
              <a:pathLst>
                <a:path w="10668000" h="10207244">
                  <a:moveTo>
                    <a:pt x="0" y="0"/>
                  </a:moveTo>
                  <a:lnTo>
                    <a:pt x="10668000" y="0"/>
                  </a:lnTo>
                  <a:lnTo>
                    <a:pt x="10668000" y="10207244"/>
                  </a:lnTo>
                  <a:lnTo>
                    <a:pt x="0" y="10207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7250" y="714375"/>
            <a:ext cx="16573500" cy="631327"/>
            <a:chOff x="0" y="0"/>
            <a:chExt cx="22098000" cy="8417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098000" cy="841770"/>
            </a:xfrm>
            <a:custGeom>
              <a:avLst/>
              <a:gdLst/>
              <a:ahLst/>
              <a:cxnLst/>
              <a:rect l="l" t="t" r="r" b="b"/>
              <a:pathLst>
                <a:path w="22098000" h="841770">
                  <a:moveTo>
                    <a:pt x="0" y="0"/>
                  </a:moveTo>
                  <a:lnTo>
                    <a:pt x="22098000" y="0"/>
                  </a:lnTo>
                  <a:lnTo>
                    <a:pt x="22098000" y="841770"/>
                  </a:lnTo>
                  <a:lnTo>
                    <a:pt x="0" y="8417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61517" b="-46151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22098000" cy="832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D4ED8"/>
                  </a:solidFill>
                  <a:latin typeface="Pretendard"/>
                  <a:ea typeface="Pretendard"/>
                  <a:cs typeface="Pretendard"/>
                  <a:sym typeface="Pretendard"/>
                </a:rPr>
                <a:t>[CONCLUSION]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354210" y="581025"/>
            <a:ext cx="3808590" cy="710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한계</a:t>
            </a:r>
            <a:r>
              <a:rPr 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및 </a:t>
            </a: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다음</a:t>
            </a:r>
            <a:r>
              <a:rPr lang="en-US" sz="3825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단계</a:t>
            </a:r>
            <a:endParaRPr lang="en-US" sz="3825" b="1" dirty="0">
              <a:solidFill>
                <a:srgbClr val="0F172A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43038" y="2417264"/>
            <a:ext cx="7170896" cy="522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475" b="1">
                <a:solidFill>
                  <a:srgbClr val="DC2626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현재 한계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443038" y="3125838"/>
            <a:ext cx="6829425" cy="28575"/>
            <a:chOff x="0" y="0"/>
            <a:chExt cx="9105900" cy="381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105900" cy="38100"/>
            </a:xfrm>
            <a:custGeom>
              <a:avLst/>
              <a:gdLst/>
              <a:ahLst/>
              <a:cxnLst/>
              <a:rect l="l" t="t" r="r" b="b"/>
              <a:pathLst>
                <a:path w="9105900" h="38100">
                  <a:moveTo>
                    <a:pt x="0" y="0"/>
                  </a:moveTo>
                  <a:lnTo>
                    <a:pt x="9105900" y="0"/>
                  </a:lnTo>
                  <a:lnTo>
                    <a:pt x="9105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015538" y="2417264"/>
            <a:ext cx="7170896" cy="522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475" b="1">
                <a:solidFill>
                  <a:srgbClr val="2563EB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다음 단계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015538" y="3125838"/>
            <a:ext cx="6829425" cy="28575"/>
            <a:chOff x="0" y="0"/>
            <a:chExt cx="9105900" cy="381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105900" cy="38100"/>
            </a:xfrm>
            <a:custGeom>
              <a:avLst/>
              <a:gdLst/>
              <a:ahLst/>
              <a:cxnLst/>
              <a:rect l="l" t="t" r="r" b="b"/>
              <a:pathLst>
                <a:path w="9105900" h="38100">
                  <a:moveTo>
                    <a:pt x="0" y="0"/>
                  </a:moveTo>
                  <a:lnTo>
                    <a:pt x="9105900" y="0"/>
                  </a:lnTo>
                  <a:lnTo>
                    <a:pt x="9105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BEAFE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43038" y="3397301"/>
            <a:ext cx="6829425" cy="962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법적</a:t>
            </a:r>
            <a:r>
              <a:rPr lang="en-US" sz="1800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1800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등록</a:t>
            </a:r>
            <a:r>
              <a:rPr lang="en-US" sz="1800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100% </a:t>
            </a:r>
            <a:r>
              <a:rPr lang="en-US" sz="1800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보장</a:t>
            </a:r>
            <a:r>
              <a:rPr lang="en-US" sz="1800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1800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불가</a:t>
            </a:r>
            <a:r>
              <a:rPr lang="en-US" sz="1800" dirty="0">
                <a:solidFill>
                  <a:srgbClr val="1E293B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→ </a:t>
            </a:r>
            <a:r>
              <a:rPr lang="en-US" sz="18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면책</a:t>
            </a:r>
            <a:r>
              <a:rPr lang="en-US" sz="18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조항</a:t>
            </a:r>
            <a:r>
              <a:rPr lang="en-US" sz="18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필수</a:t>
            </a:r>
            <a:r>
              <a:rPr lang="en-US" sz="18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포함으로</a:t>
            </a:r>
            <a:r>
              <a:rPr lang="en-US" sz="18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설계</a:t>
            </a:r>
            <a:r>
              <a:rPr lang="en-US" sz="18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대응</a:t>
            </a:r>
            <a:endParaRPr lang="en-US" sz="1800" dirty="0">
              <a:solidFill>
                <a:srgbClr val="475569"/>
              </a:solidFill>
              <a:latin typeface="Pretendard"/>
              <a:ea typeface="Pretendard"/>
              <a:cs typeface="Pretendard"/>
              <a:sym typeface="Pretendar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43038" y="4603032"/>
            <a:ext cx="6829425" cy="962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오행</a:t>
            </a:r>
            <a:r>
              <a:rPr lang="en-US" sz="1800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1800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유파별</a:t>
            </a:r>
            <a:r>
              <a:rPr lang="en-US" sz="1800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1800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기준</a:t>
            </a:r>
            <a:r>
              <a:rPr lang="en-US" sz="1800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1800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차이</a:t>
            </a:r>
            <a:r>
              <a:rPr lang="en-US" sz="1800" dirty="0">
                <a:solidFill>
                  <a:srgbClr val="1E293B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→ </a:t>
            </a:r>
            <a:r>
              <a:rPr lang="en-US" sz="18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단일</a:t>
            </a:r>
            <a:r>
              <a:rPr lang="en-US" sz="18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기준</a:t>
            </a:r>
            <a:r>
              <a:rPr lang="en-US" sz="18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(</a:t>
            </a:r>
            <a:r>
              <a:rPr lang="en-US" sz="18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자원오행</a:t>
            </a:r>
            <a:r>
              <a:rPr lang="en-US" sz="18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) </a:t>
            </a:r>
            <a:r>
              <a:rPr lang="en-US" sz="18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명시</a:t>
            </a:r>
            <a:endParaRPr lang="en-US" sz="1800" dirty="0">
              <a:solidFill>
                <a:srgbClr val="475569"/>
              </a:solidFill>
              <a:latin typeface="Pretendard"/>
              <a:ea typeface="Pretendard"/>
              <a:cs typeface="Pretendard"/>
              <a:sym typeface="Pretendar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015538" y="3397301"/>
            <a:ext cx="6829425" cy="394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플랫폼</a:t>
            </a:r>
            <a:r>
              <a:rPr lang="en-US" sz="1800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1800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확장성</a:t>
            </a:r>
            <a:r>
              <a:rPr lang="en-US" sz="1800" dirty="0">
                <a:solidFill>
                  <a:srgbClr val="1E293B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→ </a:t>
            </a:r>
            <a:r>
              <a:rPr lang="en-US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Frontend UX/UI </a:t>
            </a:r>
            <a:r>
              <a:rPr lang="ko-KR" altLang="en-US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와 연결</a:t>
            </a:r>
            <a:r>
              <a:rPr lang="en-US" sz="18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15538" y="4603032"/>
            <a:ext cx="6829425" cy="962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답변</a:t>
            </a:r>
            <a:r>
              <a:rPr lang="en-US" sz="1800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1800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검증</a:t>
            </a:r>
            <a:r>
              <a:rPr lang="en-US" sz="1800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lang="en-US" sz="1800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강화</a:t>
            </a:r>
            <a:r>
              <a:rPr lang="en-US" sz="1800" dirty="0">
                <a:solidFill>
                  <a:srgbClr val="1E293B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→ </a:t>
            </a:r>
            <a:r>
              <a:rPr lang="en-US" sz="18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근거</a:t>
            </a:r>
            <a:r>
              <a:rPr lang="en-US" sz="18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누락·계산</a:t>
            </a:r>
            <a:r>
              <a:rPr lang="en-US" sz="18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오류</a:t>
            </a:r>
            <a:r>
              <a:rPr lang="en-US" sz="18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자동</a:t>
            </a:r>
            <a:r>
              <a:rPr lang="en-US" sz="18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점검</a:t>
            </a:r>
            <a:endParaRPr lang="en-US" sz="1800" dirty="0">
              <a:solidFill>
                <a:srgbClr val="475569"/>
              </a:solidFill>
              <a:latin typeface="Pretendard"/>
              <a:ea typeface="Pretendard"/>
              <a:cs typeface="Pretendard"/>
              <a:sym typeface="Pretendar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015538" y="5808764"/>
            <a:ext cx="6829425" cy="394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Qwen Hybrid </a:t>
            </a:r>
            <a:r>
              <a:rPr lang="en-US" sz="1800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구조</a:t>
            </a:r>
            <a:r>
              <a:rPr lang="ko-KR" altLang="en-US" sz="1800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로 강화</a:t>
            </a:r>
            <a:r>
              <a:rPr lang="en-US" sz="1800" dirty="0">
                <a:solidFill>
                  <a:srgbClr val="1E293B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→ Tool </a:t>
            </a:r>
            <a:r>
              <a:rPr lang="en-US" sz="18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기반</a:t>
            </a:r>
            <a:r>
              <a:rPr lang="en-US" sz="18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보조</a:t>
            </a:r>
            <a:r>
              <a:rPr lang="en-US" sz="18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응답</a:t>
            </a:r>
            <a:r>
              <a:rPr lang="en-US" sz="18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모델로</a:t>
            </a:r>
            <a:r>
              <a:rPr lang="en-US" sz="18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검토</a:t>
            </a:r>
            <a:endParaRPr lang="en-US" sz="1800" dirty="0">
              <a:solidFill>
                <a:srgbClr val="475569"/>
              </a:solidFill>
              <a:latin typeface="Pretendard"/>
              <a:ea typeface="Pretendard"/>
              <a:cs typeface="Pretendard"/>
              <a:sym typeface="Pretendard"/>
            </a:endParaRPr>
          </a:p>
        </p:txBody>
      </p:sp>
      <p:sp>
        <p:nvSpPr>
          <p:cNvPr id="3" name="TextBox 23">
            <a:extLst>
              <a:ext uri="{FF2B5EF4-FFF2-40B4-BE49-F238E27FC236}">
                <a16:creationId xmlns:a16="http://schemas.microsoft.com/office/drawing/2014/main" id="{904A8EF5-51BB-2069-91C5-5478F3A1C4D9}"/>
              </a:ext>
            </a:extLst>
          </p:cNvPr>
          <p:cNvSpPr txBox="1"/>
          <p:nvPr/>
        </p:nvSpPr>
        <p:spPr>
          <a:xfrm>
            <a:off x="10015537" y="7132588"/>
            <a:ext cx="6829425" cy="394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ko-KR" altLang="en-US" sz="1800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파이프라인 내 </a:t>
            </a:r>
            <a:r>
              <a:rPr lang="en-US" altLang="ko-KR" sz="1800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MCP </a:t>
            </a:r>
            <a:r>
              <a:rPr lang="ko-KR" altLang="en-US" sz="1800" b="1" dirty="0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분리</a:t>
            </a:r>
            <a:r>
              <a:rPr lang="en-US" sz="1800" dirty="0">
                <a:solidFill>
                  <a:srgbClr val="1E293B"/>
                </a:solidFill>
                <a:latin typeface="Pretendard"/>
                <a:ea typeface="Pretendard"/>
                <a:cs typeface="Pretendard"/>
                <a:sym typeface="Pretendard"/>
              </a:rPr>
              <a:t> </a:t>
            </a:r>
            <a:r>
              <a:rPr lang="en-US" sz="18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→ MCP </a:t>
            </a:r>
            <a:r>
              <a:rPr lang="ko-KR" altLang="en-US" sz="1800" dirty="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서버 분리 운영</a:t>
            </a:r>
            <a:endParaRPr lang="en-US" sz="1800" dirty="0">
              <a:solidFill>
                <a:srgbClr val="475569"/>
              </a:solidFill>
              <a:latin typeface="Pretendard"/>
              <a:ea typeface="Pretendard"/>
              <a:cs typeface="Pretendard"/>
              <a:sym typeface="Pretendar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57250" y="2973286"/>
            <a:ext cx="5238598" cy="4151414"/>
            <a:chOff x="0" y="0"/>
            <a:chExt cx="6984797" cy="5535219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6984746" cy="5535168"/>
            </a:xfrm>
            <a:custGeom>
              <a:avLst/>
              <a:gdLst/>
              <a:ahLst/>
              <a:cxnLst/>
              <a:rect l="l" t="t" r="r" b="b"/>
              <a:pathLst>
                <a:path w="6984746" h="5535168">
                  <a:moveTo>
                    <a:pt x="0" y="0"/>
                  </a:moveTo>
                  <a:lnTo>
                    <a:pt x="6984746" y="0"/>
                  </a:lnTo>
                  <a:lnTo>
                    <a:pt x="6984746" y="5535168"/>
                  </a:lnTo>
                  <a:lnTo>
                    <a:pt x="0" y="5535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5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524473" y="2973286"/>
            <a:ext cx="5238826" cy="4151414"/>
            <a:chOff x="0" y="0"/>
            <a:chExt cx="6985102" cy="5535219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6985127" cy="5535168"/>
            </a:xfrm>
            <a:custGeom>
              <a:avLst/>
              <a:gdLst/>
              <a:ahLst/>
              <a:cxnLst/>
              <a:rect l="l" t="t" r="r" b="b"/>
              <a:pathLst>
                <a:path w="6985127" h="5535168">
                  <a:moveTo>
                    <a:pt x="0" y="0"/>
                  </a:moveTo>
                  <a:lnTo>
                    <a:pt x="6985127" y="0"/>
                  </a:lnTo>
                  <a:lnTo>
                    <a:pt x="6985127" y="5535168"/>
                  </a:lnTo>
                  <a:lnTo>
                    <a:pt x="0" y="5535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1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91924" y="2973286"/>
            <a:ext cx="5238598" cy="4151414"/>
            <a:chOff x="0" y="0"/>
            <a:chExt cx="6984797" cy="5535219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6984746" cy="5535168"/>
            </a:xfrm>
            <a:custGeom>
              <a:avLst/>
              <a:gdLst/>
              <a:ahLst/>
              <a:cxnLst/>
              <a:rect l="l" t="t" r="r" b="b"/>
              <a:pathLst>
                <a:path w="6984746" h="5535168">
                  <a:moveTo>
                    <a:pt x="0" y="0"/>
                  </a:moveTo>
                  <a:lnTo>
                    <a:pt x="6984746" y="0"/>
                  </a:lnTo>
                  <a:lnTo>
                    <a:pt x="6984746" y="5535168"/>
                  </a:lnTo>
                  <a:lnTo>
                    <a:pt x="0" y="5535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5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57250" y="714375"/>
            <a:ext cx="16573500" cy="631327"/>
            <a:chOff x="0" y="0"/>
            <a:chExt cx="22098000" cy="8417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98000" cy="841770"/>
            </a:xfrm>
            <a:custGeom>
              <a:avLst/>
              <a:gdLst/>
              <a:ahLst/>
              <a:cxnLst/>
              <a:rect l="l" t="t" r="r" b="b"/>
              <a:pathLst>
                <a:path w="22098000" h="841770">
                  <a:moveTo>
                    <a:pt x="0" y="0"/>
                  </a:moveTo>
                  <a:lnTo>
                    <a:pt x="22098000" y="0"/>
                  </a:lnTo>
                  <a:lnTo>
                    <a:pt x="22098000" y="841770"/>
                  </a:lnTo>
                  <a:lnTo>
                    <a:pt x="0" y="84177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461517" b="-46151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22098000" cy="832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D4ED8"/>
                  </a:solidFill>
                  <a:latin typeface="Pretendard"/>
                  <a:ea typeface="Pretendard"/>
                  <a:cs typeface="Pretendard"/>
                  <a:sym typeface="Pretendard"/>
                </a:rPr>
                <a:t>[CONCLUSION]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354210" y="581025"/>
            <a:ext cx="989190" cy="710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3825" b="1" dirty="0" err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결론</a:t>
            </a:r>
            <a:endParaRPr lang="en-US" sz="3825" b="1" dirty="0">
              <a:solidFill>
                <a:srgbClr val="0F172A"/>
              </a:soli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3047924" y="3416198"/>
            <a:ext cx="857250" cy="857250"/>
            <a:chOff x="0" y="0"/>
            <a:chExt cx="1143000" cy="11430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116504" y="4454423"/>
            <a:ext cx="720090" cy="55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2700" b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통합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715156" y="3416198"/>
            <a:ext cx="857250" cy="857250"/>
            <a:chOff x="0" y="0"/>
            <a:chExt cx="1143000" cy="1143000"/>
          </a:xfrm>
        </p:grpSpPr>
        <p:sp>
          <p:nvSpPr>
            <p:cNvPr id="18" name="Freeform 18" descr="image.png"/>
            <p:cNvSpPr/>
            <p:nvPr/>
          </p:nvSpPr>
          <p:spPr>
            <a:xfrm>
              <a:off x="0" y="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783736" y="4454423"/>
            <a:ext cx="720090" cy="55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2700" b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검증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4382598" y="3416198"/>
            <a:ext cx="857250" cy="857250"/>
            <a:chOff x="0" y="0"/>
            <a:chExt cx="1143000" cy="114300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4451178" y="4454423"/>
            <a:ext cx="720090" cy="55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2700" b="1">
                <a:solidFill>
                  <a:srgbClr val="0F172A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신뢰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3320948" y="3644798"/>
            <a:ext cx="311201" cy="400050"/>
            <a:chOff x="0" y="0"/>
            <a:chExt cx="414934" cy="53340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414909" cy="533400"/>
            </a:xfrm>
            <a:custGeom>
              <a:avLst/>
              <a:gdLst/>
              <a:ahLst/>
              <a:cxnLst/>
              <a:rect l="l" t="t" r="r" b="b"/>
              <a:pathLst>
                <a:path w="414909" h="533400">
                  <a:moveTo>
                    <a:pt x="0" y="0"/>
                  </a:moveTo>
                  <a:lnTo>
                    <a:pt x="414909" y="0"/>
                  </a:lnTo>
                  <a:lnTo>
                    <a:pt x="414909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4629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076549" y="5104809"/>
            <a:ext cx="2800000" cy="387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180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8개 데이터 소스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76549" y="5470474"/>
            <a:ext cx="2800000" cy="479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180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16개 MCP 도구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76549" y="5836148"/>
            <a:ext cx="2800000" cy="479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180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RAG + GraphDB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76549" y="6201813"/>
            <a:ext cx="2800000" cy="479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180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ChromaDB 3,500건+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8988171" y="3644798"/>
            <a:ext cx="311201" cy="400050"/>
            <a:chOff x="0" y="0"/>
            <a:chExt cx="414934" cy="533400"/>
          </a:xfrm>
        </p:grpSpPr>
        <p:sp>
          <p:nvSpPr>
            <p:cNvPr id="30" name="Freeform 30" descr="image.png"/>
            <p:cNvSpPr/>
            <p:nvPr/>
          </p:nvSpPr>
          <p:spPr>
            <a:xfrm>
              <a:off x="0" y="0"/>
              <a:ext cx="414909" cy="533400"/>
            </a:xfrm>
            <a:custGeom>
              <a:avLst/>
              <a:gdLst/>
              <a:ahLst/>
              <a:cxnLst/>
              <a:rect l="l" t="t" r="r" b="b"/>
              <a:pathLst>
                <a:path w="414909" h="533400">
                  <a:moveTo>
                    <a:pt x="0" y="0"/>
                  </a:moveTo>
                  <a:lnTo>
                    <a:pt x="414909" y="0"/>
                  </a:lnTo>
                  <a:lnTo>
                    <a:pt x="414909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r="-2855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543781" y="5104809"/>
            <a:ext cx="3200000" cy="479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180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법령 API 실시간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43781" y="5470474"/>
            <a:ext cx="3200000" cy="479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180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Neo4j 관계 탐색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43781" y="5836148"/>
            <a:ext cx="3200000" cy="479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180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4단계 수리 계산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43781" y="6201813"/>
            <a:ext cx="3200000" cy="479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180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인명한자 검증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4655622" y="3644798"/>
            <a:ext cx="311201" cy="400050"/>
            <a:chOff x="0" y="0"/>
            <a:chExt cx="414934" cy="533400"/>
          </a:xfrm>
        </p:grpSpPr>
        <p:sp>
          <p:nvSpPr>
            <p:cNvPr id="36" name="Freeform 36" descr="image.png"/>
            <p:cNvSpPr/>
            <p:nvPr/>
          </p:nvSpPr>
          <p:spPr>
            <a:xfrm>
              <a:off x="0" y="0"/>
              <a:ext cx="414909" cy="533400"/>
            </a:xfrm>
            <a:custGeom>
              <a:avLst/>
              <a:gdLst/>
              <a:ahLst/>
              <a:cxnLst/>
              <a:rect l="l" t="t" r="r" b="b"/>
              <a:pathLst>
                <a:path w="414909" h="533400">
                  <a:moveTo>
                    <a:pt x="0" y="0"/>
                  </a:moveTo>
                  <a:lnTo>
                    <a:pt x="414909" y="0"/>
                  </a:lnTo>
                  <a:lnTo>
                    <a:pt x="414909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r="-2855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3411223" y="5104809"/>
            <a:ext cx="2800000" cy="479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180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출처 자동 태깅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411223" y="5470474"/>
            <a:ext cx="2800000" cy="479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180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면책 조항 포함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411223" y="5836148"/>
            <a:ext cx="2800000" cy="479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180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ReAct 추론 루프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411223" y="6201813"/>
            <a:ext cx="2800000" cy="479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1800">
                <a:solidFill>
                  <a:srgbClr val="475569"/>
                </a:solidFill>
                <a:latin typeface="Pretendard"/>
                <a:ea typeface="Pretendard"/>
                <a:cs typeface="Pretendard"/>
                <a:sym typeface="Pretendard"/>
              </a:rPr>
              <a:t>답변 근거 명시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1DF88-6625-4D02-1CDD-76E4B7CA9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9D4F5FD-1A20-2871-F5B3-F0EC9AC3D203}"/>
              </a:ext>
            </a:extLst>
          </p:cNvPr>
          <p:cNvGrpSpPr/>
          <p:nvPr/>
        </p:nvGrpSpPr>
        <p:grpSpPr>
          <a:xfrm>
            <a:off x="-67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046753D-FC07-F6D2-95DF-D4EEFE248F07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4666" b="-24666"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6B80CC47-73CF-8603-15D0-14B41193E508}"/>
              </a:ext>
            </a:extLst>
          </p:cNvPr>
          <p:cNvSpPr txBox="1"/>
          <p:nvPr/>
        </p:nvSpPr>
        <p:spPr>
          <a:xfrm>
            <a:off x="4694374" y="4157653"/>
            <a:ext cx="8899118" cy="1971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99"/>
              </a:lnSpc>
            </a:pPr>
            <a:r>
              <a:rPr lang="ko-KR" altLang="en-US" sz="12999" b="1" dirty="0">
                <a:gradFill>
                  <a:gsLst>
                    <a:gs pos="0">
                      <a:srgbClr val="FF66C4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Pretendard Bold"/>
                <a:ea typeface="Pretendard Bold"/>
                <a:cs typeface="Pretendard Bold"/>
                <a:sym typeface="Pretendard Bold"/>
              </a:rPr>
              <a:t>시 연</a:t>
            </a:r>
            <a:endParaRPr lang="en-US" sz="12999" b="1" dirty="0">
              <a:gradFill>
                <a:gsLst>
                  <a:gs pos="0">
                    <a:srgbClr val="FF66C4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latin typeface="Pretendard Bold"/>
              <a:ea typeface="Pretendard Bold"/>
              <a:cs typeface="Pretendard Bold"/>
              <a:sym typeface="Pretendard Bold"/>
            </a:endParaRPr>
          </a:p>
        </p:txBody>
      </p:sp>
    </p:spTree>
    <p:extLst>
      <p:ext uri="{BB962C8B-B14F-4D97-AF65-F5344CB8AC3E}">
        <p14:creationId xmlns:p14="http://schemas.microsoft.com/office/powerpoint/2010/main" val="3835566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retendar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Pretendar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1448</Words>
  <Application>Microsoft Office PowerPoint</Application>
  <PresentationFormat>사용자 지정</PresentationFormat>
  <Paragraphs>340</Paragraphs>
  <Slides>20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Pretendard Bold</vt:lpstr>
      <vt:lpstr>Pretendard Black</vt:lpstr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조건 기반 맞춤 작명 QA 시스템.pptx</dc:title>
  <cp:lastModifiedBy>Office</cp:lastModifiedBy>
  <cp:revision>18</cp:revision>
  <dcterms:created xsi:type="dcterms:W3CDTF">2006-08-16T00:00:00Z</dcterms:created>
  <dcterms:modified xsi:type="dcterms:W3CDTF">2026-06-17T06:49:12Z</dcterms:modified>
  <dc:identifier>DAHMnsPeYzo</dc:identifier>
</cp:coreProperties>
</file>